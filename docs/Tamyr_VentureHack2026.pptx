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сверху проверены по первоисточникам (README → «Источники»): OECD PISA 2022 Country Note: Kazakhstan; ЕНТ-2025 — Вечерняя Астана, 02.06.2025. Нижняя строка — наш опрос, n=13: только ответы с правдоподобными по времени отметками. Ещё 30 ответов пришли за 49 секунд подряд и не используются — подробности в docs/validation-plan.md.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 про симуляцию, затем — что реально проверили: 4 интервью (docs/validation-plan.md). Опрос учеников собран, но временные метки ответов не проходят проверку на подлинность — не выносите его на слайд, пока не подтверждено, как именно он собирался.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 репетитора и центра — из 2 реальных интервью (не гипотеза), см. docs/validation-plan.md. Школьная цена — всё ещё гипотеза, честно так и скажите. 184 тыс. — оценка: 216 тыс. минус около 15% творческих специальностей.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325880" y="182879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54679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86200" y="4114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86200" y="13258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486400"/>
            <a:ext cx="4480560" cy="685800"/>
          </a:xfrm>
          <a:prstGeom prst="ellipse">
            <a:avLst/>
          </a:prstGeom>
          <a:solidFill>
            <a:srgbClr val="082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422392"/>
            <a:ext cx="4206240" cy="548640"/>
          </a:xfrm>
          <a:prstGeom prst="ellipse">
            <a:avLst/>
          </a:prstGeom>
          <a:solidFill>
            <a:srgbClr val="1A1F2A"/>
          </a:solidFill>
          <a:ln w="31750">
            <a:solidFill>
              <a:srgbClr val="5B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1897380" y="162466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Кв.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6972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Лин.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0975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1" name="Hexagon 20"/>
          <p:cNvSpPr/>
          <p:nvPr/>
        </p:nvSpPr>
        <p:spPr>
          <a:xfrm>
            <a:off x="1897380" y="3010433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2" name="Hexagon 21"/>
          <p:cNvSpPr/>
          <p:nvPr/>
        </p:nvSpPr>
        <p:spPr>
          <a:xfrm>
            <a:off x="6972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082F66"/>
                </a:solidFill>
                <a:latin typeface="Arial Black"/>
              </a:rPr>
              <a:t>Проценты</a:t>
            </a:r>
          </a:p>
        </p:txBody>
      </p:sp>
      <p:sp>
        <p:nvSpPr>
          <p:cNvPr id="23" name="Hexagon 22"/>
          <p:cNvSpPr/>
          <p:nvPr/>
        </p:nvSpPr>
        <p:spPr>
          <a:xfrm>
            <a:off x="30975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Степени</a:t>
            </a:r>
          </a:p>
        </p:txBody>
      </p:sp>
      <p:sp>
        <p:nvSpPr>
          <p:cNvPr id="24" name="Hexagon 23"/>
          <p:cNvSpPr/>
          <p:nvPr/>
        </p:nvSpPr>
        <p:spPr>
          <a:xfrm>
            <a:off x="1897380" y="439620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0552" y="3941063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0">
                <a:solidFill>
                  <a:srgbClr val="E0473E"/>
                </a:solidFill>
                <a:latin typeface="Arial Black"/>
              </a:rPr>
              <a:t>КОРЕНЬ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6355080"/>
            <a:ext cx="5486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8680" y="6126480"/>
            <a:ext cx="274320" cy="22860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43000" y="6126480"/>
            <a:ext cx="64008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78892" y="63139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41932" y="60853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989320"/>
            <a:ext cx="73152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95360" y="5715000"/>
            <a:ext cx="274320" cy="27432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69680" y="5715000"/>
            <a:ext cx="10058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822692" y="594817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4372" y="567385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66959" y="521208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15600" y="5486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01400" y="5577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585216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7159" y="530352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7889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111"/>
                </a:solidFill>
                <a:latin typeface="Arial Black"/>
              </a:rPr>
              <a:t>НАХОДИМ КОРЕНЬ ОШИБКИ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Адаптивная диагностика по математике для ЕНТ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97763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Arial Black"/>
              </a:rPr>
              <a:t>За один тест показывает базовую тему, из-за которой «сыпятся» все следующие. Тамыр (каз.) — корень.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983480"/>
            <a:ext cx="26517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Трек 2 · EduTech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8A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6309359" y="681959"/>
            <a:ext cx="6766560" cy="5859840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5852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УЧЕНИК ПОВТОРЯЕТ
НЕ ТУ ТЕМУ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Пример: 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Настоящая причина лежит на три темы ниже: </a:t>
            </a:r>
            <a:r>
              <a:rPr sz="1500" b="0" i="0">
                <a:solidFill>
                  <a:srgbClr val="E0473E"/>
                </a:solidFill>
                <a:latin typeface="Arial Black"/>
              </a:rPr>
              <a:t>она неверно складывает дроби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 — это материал 6 класса.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Тест показывает симптом, но не диагноз.</a:t>
            </a:r>
          </a:p>
        </p:txBody>
      </p:sp>
      <p:sp>
        <p:nvSpPr>
          <p:cNvPr id="14" name="Hexagon 13"/>
          <p:cNvSpPr/>
          <p:nvPr/>
        </p:nvSpPr>
        <p:spPr>
          <a:xfrm>
            <a:off x="7498079" y="160020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Квадратные уравнения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5146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видна здесь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278892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498079" y="306324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Линейные уравнения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тянется отсюда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425196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Hexagon 19"/>
          <p:cNvSpPr/>
          <p:nvPr/>
        </p:nvSpPr>
        <p:spPr>
          <a:xfrm>
            <a:off x="7498079" y="452628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3175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FFFFFF"/>
                </a:solidFill>
                <a:latin typeface="Arial Black"/>
              </a:rPr>
              <a:t>Действия с дробями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440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корень проблемы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МАСШТАБ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ПРОБЛЕМА МАССОВАЯ, А ТЕСТ ЛЕЧИТ СИМПТОМ</a:t>
            </a:r>
          </a:p>
        </p:txBody>
      </p:sp>
      <p:sp>
        <p:nvSpPr>
          <p:cNvPr id="12" name="Hexagon 11"/>
          <p:cNvSpPr/>
          <p:nvPr/>
        </p:nvSpPr>
        <p:spPr>
          <a:xfrm>
            <a:off x="548640" y="233172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7743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школьников Казахстана
достигли мин. уровня
по математике (ОЭСР — 69%)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81527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PISA 2022</a:t>
            </a:r>
          </a:p>
        </p:txBody>
      </p:sp>
      <p:sp>
        <p:nvSpPr>
          <p:cNvPr id="15" name="Hexagon 14"/>
          <p:cNvSpPr/>
          <p:nvPr/>
        </p:nvSpPr>
        <p:spPr>
          <a:xfrm>
            <a:off x="548640" y="3520439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216 тыс.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56615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абитуриентов ЕНТ
в 2025 году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702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НЦТ / Вечерняя Астана</a:t>
            </a:r>
          </a:p>
        </p:txBody>
      </p:sp>
      <p:sp>
        <p:nvSpPr>
          <p:cNvPr id="18" name="Hexagon 17"/>
          <p:cNvSpPr/>
          <p:nvPr/>
        </p:nvSpPr>
        <p:spPr>
          <a:xfrm>
            <a:off x="548640" y="470916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64/140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7548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средний балл ЕНТ-2025
по пяти предметам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45896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Вечерняя Астана, 02.06.2025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2286000"/>
            <a:ext cx="55321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217920" y="248716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688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Математика кумулятивна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81635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Пробел в базовой теме всплывает позже — в теме, которая на ней держится.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6217920" y="358444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5661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Тест измеряет балл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91363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Пробник говорит,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28" name="Hexagon 27"/>
          <p:cNvSpPr/>
          <p:nvPr/>
        </p:nvSpPr>
        <p:spPr>
          <a:xfrm>
            <a:off x="6217920" y="468172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663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У учителя нет времени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01091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25–30 учеников в классе: проверить каждого по всем темам 5–9 классов невозможно.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Наш опрос учеников (n = 13):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77% сказали, что «иногда» или «редко» понимают, почему ошиблись в пробнике.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-2743200" y="4920752"/>
            <a:ext cx="3840480" cy="332585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НАЙТИ КОРЕНЬ → ПОКАЗАТЬ → ПОЧИНИТЬ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82296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Адаптивная диагностика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Начинаем со сложной темы и спускаемся по графу из 17 тем только там, где есть ошибки. Без пробелов — около 10 вопросов.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761488"/>
            <a:ext cx="1783079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361187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Карта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6092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Hexagon 21"/>
          <p:cNvSpPr/>
          <p:nvPr/>
        </p:nvSpPr>
        <p:spPr>
          <a:xfrm>
            <a:off x="640080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План снизу вверх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Правило, пример, разбор своей ошибки и 2 новые проверочные задачи. Следующая тема — после корня.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918971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111"/>
                </a:solidFill>
                <a:latin typeface="Arial Black"/>
              </a:rPr>
              <a:t>Панель учителя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Работает в браузере на любом телефоне — без установки, регистрации и сервера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АЛГОРИТМ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КАК TAMYR ИЩЕТ КОРЕНЬ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34874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31820" y="2898648"/>
            <a:ext cx="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3182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217420" y="3995928"/>
            <a:ext cx="91440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1820" y="3995928"/>
            <a:ext cx="91440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46220" y="5093208"/>
            <a:ext cx="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2331720" y="233172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Кв. 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54864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Разложение</a:t>
            </a:r>
          </a:p>
        </p:txBody>
      </p:sp>
      <p:sp>
        <p:nvSpPr>
          <p:cNvPr id="20" name="Hexagon 19"/>
          <p:cNvSpPr/>
          <p:nvPr/>
        </p:nvSpPr>
        <p:spPr>
          <a:xfrm>
            <a:off x="233172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Лин. уравнения</a:t>
            </a:r>
          </a:p>
        </p:txBody>
      </p:sp>
      <p:sp>
        <p:nvSpPr>
          <p:cNvPr id="21" name="Hexagon 20"/>
          <p:cNvSpPr/>
          <p:nvPr/>
        </p:nvSpPr>
        <p:spPr>
          <a:xfrm>
            <a:off x="411480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2" name="Hexagon 21"/>
          <p:cNvSpPr/>
          <p:nvPr/>
        </p:nvSpPr>
        <p:spPr>
          <a:xfrm>
            <a:off x="14173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Выражения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32461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4" name="Hexagon 23"/>
          <p:cNvSpPr/>
          <p:nvPr/>
        </p:nvSpPr>
        <p:spPr>
          <a:xfrm>
            <a:off x="3246120" y="562356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B9CFEE"/>
          </a:solidFill>
          <a:ln w="25400">
            <a:solidFill>
              <a:srgbClr val="B9CF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7A808A"/>
                </a:solidFill>
                <a:latin typeface="Arial Black"/>
              </a:rPr>
              <a:t>Синий — освоено, красный — пробел, насыщенный красный — корень</a:t>
            </a:r>
          </a:p>
        </p:txBody>
      </p:sp>
      <p:sp>
        <p:nvSpPr>
          <p:cNvPr id="26" name="Hexagon 25"/>
          <p:cNvSpPr/>
          <p:nvPr/>
        </p:nvSpPr>
        <p:spPr>
          <a:xfrm>
            <a:off x="6309360" y="2423160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Решил тему без ошибок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7249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всё, на чём она держится, засчитано без вопросов</a:t>
            </a:r>
          </a:p>
        </p:txBody>
      </p:sp>
      <p:sp>
        <p:nvSpPr>
          <p:cNvPr id="29" name="Hexagon 28"/>
          <p:cNvSpPr/>
          <p:nvPr/>
        </p:nvSpPr>
        <p:spPr>
          <a:xfrm>
            <a:off x="6309360" y="3227832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1821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Ошибся дважды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29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спускаемся к непроверенным пререквизитам</a:t>
            </a:r>
          </a:p>
        </p:txBody>
      </p:sp>
      <p:sp>
        <p:nvSpPr>
          <p:cNvPr id="32" name="Hexagon 31"/>
          <p:cNvSpPr/>
          <p:nvPr/>
        </p:nvSpPr>
        <p:spPr>
          <a:xfrm>
            <a:off x="6309360" y="4032504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867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Неверный вариант с меткой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3342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сначала проверяем «домашнюю» тему этой ошибки</a:t>
            </a:r>
          </a:p>
        </p:txBody>
      </p:sp>
      <p:sp>
        <p:nvSpPr>
          <p:cNvPr id="35" name="Hexagon 34"/>
          <p:cNvSpPr/>
          <p:nvPr/>
        </p:nvSpPr>
        <p:spPr>
          <a:xfrm>
            <a:off x="6309360" y="4837176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47914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Корень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1389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= пробел, под которым пробелов 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5669280"/>
            <a:ext cx="530352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57424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0473E"/>
                </a:solidFill>
                <a:latin typeface="Arial Black"/>
              </a:rPr>
              <a:t>1/2 + 1/3 = 2/5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  →  «складывает числители и знаменатели»</a:t>
            </a:r>
          </a:p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Такой ответ сразу отправляет проверку в тему «Дроби».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274319" y="61831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КАРТА ЗНАНИЙ УЧЕНИКА</a:t>
            </a:r>
          </a:p>
        </p:txBody>
      </p:sp>
      <p:pic>
        <p:nvPicPr>
          <p:cNvPr id="13" name="Picture 12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2331720"/>
            <a:ext cx="6675120" cy="370840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7818120" y="234086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14 вопросов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3347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теме «Квадратные уравнения» и всем её основам</a:t>
            </a:r>
          </a:p>
        </p:txBody>
      </p:sp>
      <p:sp>
        <p:nvSpPr>
          <p:cNvPr id="17" name="Hexagon 16"/>
          <p:cNvSpPr/>
          <p:nvPr/>
        </p:nvSpPr>
        <p:spPr>
          <a:xfrm>
            <a:off x="7818120" y="3236976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182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Корень — «Дроби»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29584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хотя ошибки видны в квадратных и линейных уравнениях</a:t>
            </a:r>
          </a:p>
        </p:txBody>
      </p:sp>
      <p:sp>
        <p:nvSpPr>
          <p:cNvPr id="20" name="Hexagon 19"/>
          <p:cNvSpPr/>
          <p:nvPr/>
        </p:nvSpPr>
        <p:spPr>
          <a:xfrm>
            <a:off x="7818120" y="4133087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Ошибки мышления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25696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выбранным вариантам, с правилом исправления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7818120" y="5029199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9743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План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21807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«Разобрать» → урок → 2 новые задачи → следующая тема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989320"/>
            <a:ext cx="2834640" cy="41148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Открыть: index.html#demo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480559" y="70975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УЧИТЕЛЮ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КОРНИ ВСЕГО КЛАССА</a:t>
            </a:r>
          </a:p>
        </p:txBody>
      </p:sp>
      <p:pic>
        <p:nvPicPr>
          <p:cNvPr id="13" name="Picture 12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892040" y="1234440"/>
            <a:ext cx="6675120" cy="407924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640080" y="270662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Корневые пробелы класса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какие базовые темы тянут класс вниз</a:t>
            </a:r>
          </a:p>
        </p:txBody>
      </p:sp>
      <p:sp>
        <p:nvSpPr>
          <p:cNvPr id="17" name="Hexagon 16"/>
          <p:cNvSpPr/>
          <p:nvPr/>
        </p:nvSpPr>
        <p:spPr>
          <a:xfrm>
            <a:off x="640080" y="352958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74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Мини-группы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221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кого с кем посадить на 15-минутный разбор</a:t>
            </a:r>
          </a:p>
        </p:txBody>
      </p:sp>
      <p:sp>
        <p:nvSpPr>
          <p:cNvPr id="20" name="Hexagon 19"/>
          <p:cNvSpPr/>
          <p:nvPr/>
        </p:nvSpPr>
        <p:spPr>
          <a:xfrm>
            <a:off x="640080" y="435254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Тепловая карта и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451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× тема, выгрузка в Excel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" y="5175503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передаёт результат кодом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635508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F57"/>
                </a:solidFill>
                <a:latin typeface="Arial Black"/>
              </a:rPr>
              <a:t>Демо-класс: 24 виртуальных ученика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КОНКУРЕНТЫ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ИДЕЯ НЕ НОВАЯ — НОВОЕ В СВЯЗКЕ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402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ЧТО ДЕЛАЕТ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402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4DA2"/>
                </a:solidFill>
                <a:latin typeface="Arial Black"/>
              </a:rPr>
              <a:t>ЧЕМ ОТЛИЧАЕТСЯ TAMYR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22960" y="2779776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6517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ALEKS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62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McGraw 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2560320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61518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64991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822960" y="3584448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4564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Eedi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Великобритания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41985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364991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169663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822960" y="4389120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261103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Khan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США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24527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Бесплатные курсы и система освоения по темам.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4169663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224527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Не курс, а 10–20 минут диагностики: с чего начать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74336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822960" y="5193792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65775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Пробники ЕНТ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766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Казахстан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29199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Балл и разбор по темам, где произошла ошибка.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4974336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5029199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Причина, а не балл; учителю — корни класса и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Неверный вариант → домашняя тема ошибки → проверка корня  ·  под ЕНТ, офлайн, с панелью учителя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ЧТО УЖЕ ПРОВЕРЕНО</a:t>
            </a:r>
          </a:p>
        </p:txBody>
      </p:sp>
      <p:sp>
        <p:nvSpPr>
          <p:cNvPr id="12" name="Hexagon 11"/>
          <p:cNvSpPr/>
          <p:nvPr/>
        </p:nvSpPr>
        <p:spPr>
          <a:xfrm>
            <a:off x="77724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настоящих корней найдено
(полнота)</a:t>
            </a:r>
          </a:p>
        </p:txBody>
      </p:sp>
      <p:sp>
        <p:nvSpPr>
          <p:cNvPr id="14" name="Hexagon 13"/>
          <p:cNvSpPr/>
          <p:nvPr/>
        </p:nvSpPr>
        <p:spPr>
          <a:xfrm>
            <a:off x="356616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найденных корней верны
(точность)</a:t>
            </a:r>
          </a:p>
        </p:txBody>
      </p:sp>
      <p:sp>
        <p:nvSpPr>
          <p:cNvPr id="16" name="Hexagon 15"/>
          <p:cNvSpPr/>
          <p:nvPr/>
        </p:nvSpPr>
        <p:spPr>
          <a:xfrm>
            <a:off x="635507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7/18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тем спецификации ЕНТ
покрыто (алгебра)</a:t>
            </a:r>
          </a:p>
        </p:txBody>
      </p:sp>
      <p:sp>
        <p:nvSpPr>
          <p:cNvPr id="18" name="Hexagon 17"/>
          <p:cNvSpPr/>
          <p:nvPr/>
        </p:nvSpPr>
        <p:spPr>
          <a:xfrm>
            <a:off x="914399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20/20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юнит-тестов
проходят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Arial Black"/>
              </a:rPr>
              <a:t>Полнота и точность — контрольная симуляция: 1000 новых виртуальных учеников, не использованных при доработке (было 79% и 72% до правила «перевес в 2»). Модель ученика наша, поэтому это оценка сверху. Покрытие — сверка 17 тем с официальной спецификацией НЦТ (с 2026 г.).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32120"/>
            <a:ext cx="10881360" cy="1005840"/>
          </a:xfrm>
          <a:prstGeom prst="rect">
            <a:avLst/>
          </a:prstGeom>
          <a:solidFill>
            <a:srgbClr val="EAF1FB"/>
          </a:solidFill>
          <a:ln w="190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14416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4DA2"/>
                </a:solidFill>
                <a:latin typeface="Arial Black"/>
              </a:rPr>
              <a:t>Проверено на людях: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интервью с 4 преподавателями (учитель математики, репетитор, преподаватель учебного центра, учитель физики).</a:t>
            </a:r>
          </a:p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111111"/>
                </a:solidFill>
                <a:latin typeface="Arial Black"/>
              </a:rPr>
              <a:t>«Ученик не может решать квадратные уравнения, а проблема — в отрицательных числах, дробях или раскрытии скобок» — учитель математики.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Ручная диагностика занимает от одного занятия до недели; Tamyr — 10–34 вопроса.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РЫНОК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КОМУ, СКОЛЬКО СТОИТ, КАК ЗАПУСТИТЬ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2551176"/>
            <a:ext cx="0" cy="13990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62019" y="2691079"/>
            <a:ext cx="118141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691079"/>
            <a:ext cx="11814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80160" y="2691079"/>
            <a:ext cx="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186891" y="2551176"/>
            <a:ext cx="93269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80160" y="2551176"/>
            <a:ext cx="93268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Аудитория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216 тыс. абитуриентов ЕНТ-2025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≈184 тыс. сдают обязательную мат. грамотность (наша оценка: без творческих специальностей)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72% сдают ЕНТ на казахском → казахская версия — шаг №1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66344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Затраты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Хостинг: 0 ₸ (GitHub Pages)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Нет серверов и персональных данных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Основное: время учителей на проверку заданий и перевод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841248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Деньги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По интервью (n=4): репетитор — 5–10 тыс ₸/мес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Учебный центр: 30–70 тыс ₸/мес, либо 500–1 500 ₸/ученика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Школа: бесплатно для учителя ради охвата (гипотеза)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093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Источники: НЦТ (формат ЕНТ); Вечерняя Астана, 02.06.2025; интервью с 4 преподавателями, сентябрь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1430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ДАЛЬШЕ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92807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ОТ ПРОТОТИПА К КЛАССУ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520440"/>
            <a:ext cx="8412480" cy="0"/>
          </a:xfrm>
          <a:prstGeom prst="line">
            <a:avLst/>
          </a:prstGeom>
          <a:ln w="38100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3152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MVP: 17 тем, 102 задания, 43 ошибки мышления, панель учителя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56616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 месяц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Казахская версия, пилот в 2–3 классах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3 месяца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Проверка заданий учителями, 10+ вопросов на тему</a:t>
            </a:r>
          </a:p>
        </p:txBody>
      </p:sp>
      <p:sp>
        <p:nvSpPr>
          <p:cNvPr id="26" name="Hexagon 25"/>
          <p:cNvSpPr/>
          <p:nvPr/>
        </p:nvSpPr>
        <p:spPr>
          <a:xfrm>
            <a:off x="923544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6 месяцев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Тригонометрия, логарифмы, геометрия по спецификации 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GitHub: github.com/sas1k00/hackathonchik   ·   Демо: sas1k00.github.io/hackathonchik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5715000"/>
            <a:ext cx="228600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