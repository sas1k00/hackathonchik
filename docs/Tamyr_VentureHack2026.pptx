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Tamyr — по-казахски «корень». Мы в треке EduTech. Мы находим не ошибку, а её причину.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Пример проблемы. Ученица повторяет квадратные уравнения, но корень — в дробях 6 класса.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Три причины. Если провели опрос, назовите реальную цифру; если нет, удалите нижнюю строку.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Объясните правила движка. Ключевая особенность: неверный вариант ответа говорит, какая именно это ошибка.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Живое демо: #setup → «Квадратные уравнения» → отвечать как ученик с пробелом в дробях. Запасной вариант: #demo.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Говорите честно: это симуляция. Затем назовите то, что проверили на людях. Если ничего не успели, скажите, что пилот запланирован, и удалите пустые поля.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B25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1097280" y="731520"/>
            <a:ext cx="0" cy="370332"/>
          </a:xfrm>
          <a:prstGeom prst="line">
            <a:avLst/>
          </a:prstGeom>
          <a:ln w="57150">
            <a:solidFill>
              <a:srgbClr val="9FD9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 flipH="1">
            <a:off x="784555" y="1101852"/>
            <a:ext cx="312725" cy="452628"/>
          </a:xfrm>
          <a:prstGeom prst="line">
            <a:avLst/>
          </a:prstGeom>
          <a:ln w="57150">
            <a:solidFill>
              <a:srgbClr val="9FD9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097280" y="1101852"/>
            <a:ext cx="312724" cy="452628"/>
          </a:xfrm>
          <a:prstGeom prst="line">
            <a:avLst/>
          </a:prstGeom>
          <a:ln w="57150">
            <a:solidFill>
              <a:srgbClr val="9FD9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097280" y="1101852"/>
            <a:ext cx="0" cy="452628"/>
          </a:xfrm>
          <a:prstGeom prst="line">
            <a:avLst/>
          </a:prstGeom>
          <a:ln w="57150">
            <a:solidFill>
              <a:srgbClr val="9FD9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H="1" flipV="1">
            <a:off x="850392" y="731520"/>
            <a:ext cx="246888" cy="164592"/>
          </a:xfrm>
          <a:prstGeom prst="line">
            <a:avLst/>
          </a:prstGeom>
          <a:ln w="57150">
            <a:solidFill>
              <a:srgbClr val="9FD9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1097280" y="731520"/>
            <a:ext cx="246888" cy="164592"/>
          </a:xfrm>
          <a:prstGeom prst="line">
            <a:avLst/>
          </a:prstGeom>
          <a:ln w="57150">
            <a:solidFill>
              <a:srgbClr val="9FD9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40080" y="2011680"/>
            <a:ext cx="100584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0" b="1" i="0">
                <a:solidFill>
                  <a:srgbClr val="FFFFFF"/>
                </a:solidFill>
                <a:latin typeface="Cambria"/>
              </a:rPr>
              <a:t>Tamyr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4612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 i="0">
                <a:solidFill>
                  <a:srgbClr val="9FD9C4"/>
                </a:solidFill>
                <a:latin typeface="Cambria"/>
              </a:rPr>
              <a:t>Находим не ошибку, а её корень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114800"/>
            <a:ext cx="9601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D8E6E0"/>
                </a:solidFill>
                <a:latin typeface="Calibri"/>
              </a:rPr>
              <a:t>Адаптивная диагностика по математике для подготовки к ЕНТ: за один тест показывает базовую тему, из-за которой «сыпятся» все следующие.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B5CCC3"/>
                </a:solidFill>
                <a:latin typeface="Calibri"/>
              </a:rPr>
              <a:t>VentureHack 2026  ·  </a:t>
            </a:r>
            <a:r>
              <a:rPr sz="1400" b="1" i="0">
                <a:solidFill>
                  <a:srgbClr val="B5CCC3"/>
                </a:solidFill>
                <a:latin typeface="Calibri"/>
              </a:rPr>
              <a:t>Трек 2 — EduTech и образование будущего</a:t>
            </a:r>
            <a:r>
              <a:rPr sz="1400" b="0" i="0">
                <a:solidFill>
                  <a:srgbClr val="B5CCC3"/>
                </a:solidFill>
                <a:latin typeface="Calibri"/>
              </a:rPr>
              <a:t>  ·  тамыр (каз.) — корень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F6F5C"/>
                </a:solidFill>
                <a:latin typeface="Calibri"/>
              </a:rPr>
              <a:t>ПРОБЛЕМА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1D1F1C"/>
                </a:solidFill>
                <a:latin typeface="Cambria"/>
              </a:rPr>
              <a:t>Ученик повторяет не ту тему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5120640" cy="3474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400"/>
              </a:spcAft>
            </a:pPr>
            <a:r>
              <a:rPr sz="1800" b="1" i="0">
                <a:solidFill>
                  <a:srgbClr val="1D1F1C"/>
                </a:solidFill>
                <a:latin typeface="Calibri"/>
              </a:rPr>
              <a:t>Айгерим готовится к ЕНТ и ошибается в квадратных уравнениях.</a:t>
            </a:r>
          </a:p>
          <a:p>
            <a:pPr algn="l">
              <a:spcAft>
                <a:spcPts val="1400"/>
              </a:spcAft>
            </a:pPr>
            <a:r>
              <a:rPr sz="1800" b="0" i="0">
                <a:solidFill>
                  <a:srgbClr val="1D1F1C"/>
                </a:solidFill>
                <a:latin typeface="Calibri"/>
              </a:rPr>
              <a:t>Пробник советует: «Повторите квадратные уравнения». Она повторяет, а ошибки остаются.</a:t>
            </a:r>
          </a:p>
          <a:p>
            <a:pPr algn="l">
              <a:spcAft>
                <a:spcPts val="1400"/>
              </a:spcAft>
            </a:pPr>
            <a:r>
              <a:rPr sz="1800" b="0" i="0">
                <a:solidFill>
                  <a:srgbClr val="1D1F1C"/>
                </a:solidFill>
                <a:latin typeface="Calibri"/>
              </a:rPr>
              <a:t>Настоящая причина лежит на три темы ниже: </a:t>
            </a:r>
            <a:r>
              <a:rPr sz="1800" b="1" i="0">
                <a:solidFill>
                  <a:srgbClr val="D9534F"/>
                </a:solidFill>
                <a:latin typeface="Calibri"/>
              </a:rPr>
              <a:t>она неверно складывает дроби</a:t>
            </a:r>
            <a:r>
              <a:rPr sz="1800" b="0" i="0">
                <a:solidFill>
                  <a:srgbClr val="1D1F1C"/>
                </a:solidFill>
                <a:latin typeface="Calibri"/>
              </a:rPr>
              <a:t> — это материал 6 класса.</a:t>
            </a:r>
          </a:p>
          <a:p>
            <a:pPr algn="l">
              <a:spcAft>
                <a:spcPts val="1400"/>
              </a:spcAft>
            </a:pPr>
            <a:r>
              <a:rPr sz="1800" b="0" i="0">
                <a:solidFill>
                  <a:srgbClr val="1D1F1C"/>
                </a:solidFill>
                <a:latin typeface="Calibri"/>
              </a:rPr>
              <a:t>Тест показывает симптом, но не диагноз.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75120" y="1828800"/>
            <a:ext cx="4480560" cy="868680"/>
          </a:xfrm>
          <a:prstGeom prst="roundRect">
            <a:avLst>
              <a:gd name="adj" fmla="val 12000"/>
            </a:avLst>
          </a:prstGeom>
          <a:solidFill>
            <a:srgbClr val="F8D7D5"/>
          </a:solidFill>
          <a:ln w="25400">
            <a:solidFill>
              <a:srgbClr val="D95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wrap="square"/>
          <a:lstStyle/>
          <a:p>
            <a:pPr algn="ctr"/>
            <a:r>
              <a:rPr sz="2000" b="1">
                <a:solidFill>
                  <a:srgbClr val="1D1F1C"/>
                </a:solidFill>
                <a:latin typeface="Calibri"/>
              </a:rPr>
              <a:t>Квадратные уравнения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0" y="2743200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1">
                <a:solidFill>
                  <a:srgbClr val="5B5F58"/>
                </a:solidFill>
                <a:latin typeface="Calibri"/>
              </a:rPr>
              <a:t>ошибка видна здесь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915400" y="3017520"/>
            <a:ext cx="0" cy="228600"/>
          </a:xfrm>
          <a:prstGeom prst="line">
            <a:avLst/>
          </a:prstGeom>
          <a:ln w="31750">
            <a:solidFill>
              <a:srgbClr val="D9534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6675120" y="3246120"/>
            <a:ext cx="4480560" cy="868680"/>
          </a:xfrm>
          <a:prstGeom prst="roundRect">
            <a:avLst>
              <a:gd name="adj" fmla="val 12000"/>
            </a:avLst>
          </a:prstGeom>
          <a:solidFill>
            <a:srgbClr val="F8D7D5"/>
          </a:solidFill>
          <a:ln w="25400">
            <a:solidFill>
              <a:srgbClr val="D95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wrap="square"/>
          <a:lstStyle/>
          <a:p>
            <a:pPr algn="ctr"/>
            <a:r>
              <a:rPr sz="2000" b="1">
                <a:solidFill>
                  <a:srgbClr val="1D1F1C"/>
                </a:solidFill>
                <a:latin typeface="Calibri"/>
              </a:rPr>
              <a:t>Линейные уравнения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4160520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1">
                <a:solidFill>
                  <a:srgbClr val="5B5F58"/>
                </a:solidFill>
                <a:latin typeface="Calibri"/>
              </a:rPr>
              <a:t>ошибка тянется отсюда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915400" y="4434840"/>
            <a:ext cx="0" cy="228600"/>
          </a:xfrm>
          <a:prstGeom prst="line">
            <a:avLst/>
          </a:prstGeom>
          <a:ln w="31750">
            <a:solidFill>
              <a:srgbClr val="D9534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675120" y="4663440"/>
            <a:ext cx="4480560" cy="868680"/>
          </a:xfrm>
          <a:prstGeom prst="roundRect">
            <a:avLst>
              <a:gd name="adj" fmla="val 12000"/>
            </a:avLst>
          </a:prstGeom>
          <a:solidFill>
            <a:srgbClr val="D9534F"/>
          </a:solidFill>
          <a:ln w="25400">
            <a:solidFill>
              <a:srgbClr val="D95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Действия с дробями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5577840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1">
                <a:solidFill>
                  <a:srgbClr val="5B5F58"/>
                </a:solidFill>
                <a:latin typeface="Calibri"/>
              </a:rPr>
              <a:t>корень проблемы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F6F5C"/>
                </a:solidFill>
                <a:latin typeface="Calibri"/>
              </a:rPr>
              <a:t>ПРИЧИНЫ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1D1F1C"/>
                </a:solidFill>
                <a:latin typeface="Cambria"/>
              </a:rPr>
              <a:t>Почему это происходит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011680"/>
            <a:ext cx="3474720" cy="3383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60119" y="2331720"/>
            <a:ext cx="548640" cy="548640"/>
          </a:xfrm>
          <a:prstGeom prst="ellipse">
            <a:avLst/>
          </a:prstGeom>
          <a:solidFill>
            <a:srgbClr val="1F6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19" y="3063240"/>
            <a:ext cx="2834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 i="0">
                <a:solidFill>
                  <a:srgbClr val="1D1F1C"/>
                </a:solidFill>
                <a:latin typeface="Cambria"/>
              </a:rPr>
              <a:t>Математика кумулятивна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19" y="3977639"/>
            <a:ext cx="28346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5B5F58"/>
                </a:solidFill>
                <a:latin typeface="Calibri"/>
              </a:rPr>
              <a:t>Каждая тема держится на предыдущих. Пробел 5–6 класса всплывает через 2–4 года в другой теме.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2011680"/>
            <a:ext cx="3474720" cy="3383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709159" y="2331720"/>
            <a:ext cx="548640" cy="548640"/>
          </a:xfrm>
          <a:prstGeom prst="ellipse">
            <a:avLst/>
          </a:prstGeom>
          <a:solidFill>
            <a:srgbClr val="D95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59" y="3063240"/>
            <a:ext cx="2834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 i="0">
                <a:solidFill>
                  <a:srgbClr val="1D1F1C"/>
                </a:solidFill>
                <a:latin typeface="Cambria"/>
              </a:rPr>
              <a:t>Тесты измеряют балл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59" y="3977639"/>
            <a:ext cx="28346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5B5F58"/>
                </a:solidFill>
                <a:latin typeface="Calibri"/>
              </a:rPr>
              <a:t>Пробники и контрольные говорят, где ошибка произошла, но не почему. Выбранный неверный вариант не анализируется.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59" y="2011680"/>
            <a:ext cx="3474720" cy="3383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458199" y="2331720"/>
            <a:ext cx="548640" cy="548640"/>
          </a:xfrm>
          <a:prstGeom prst="ellipse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58199" y="3063240"/>
            <a:ext cx="2834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 i="0">
                <a:solidFill>
                  <a:srgbClr val="1D1F1C"/>
                </a:solidFill>
                <a:latin typeface="Cambria"/>
              </a:rPr>
              <a:t>У учителя нет времени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58199" y="3977639"/>
            <a:ext cx="28346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5B5F58"/>
                </a:solidFill>
                <a:latin typeface="Calibri"/>
              </a:rPr>
              <a:t>В классе 25–30 учеников. Индивидуально проверить каждого по всем темам с 5 по 9 класс невозможно.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669280"/>
            <a:ext cx="10881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D9534F"/>
                </a:solidFill>
                <a:latin typeface="Calibri"/>
              </a:rPr>
              <a:t>Место для вашей цифры из опроса: </a:t>
            </a:r>
            <a:r>
              <a:rPr sz="1400" b="0" i="0">
                <a:solidFill>
                  <a:srgbClr val="5B5F58"/>
                </a:solidFill>
                <a:latin typeface="Calibri"/>
              </a:rPr>
              <a:t>«__% учеников не понимают, почему ошиблись в пробнике» (n = __). Заполните по docs/validation-plan.md или удалите строку.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F6F5C"/>
                </a:solidFill>
                <a:latin typeface="Calibri"/>
              </a:rPr>
              <a:t>РЕШЕНИЕ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1D1F1C"/>
                </a:solidFill>
                <a:latin typeface="Cambria"/>
              </a:rPr>
              <a:t>Три шага: найти корень → показать → починить</a:t>
            </a:r>
          </a:p>
        </p:txBody>
      </p:sp>
      <p:sp>
        <p:nvSpPr>
          <p:cNvPr id="4" name="Oval 3"/>
          <p:cNvSpPr/>
          <p:nvPr/>
        </p:nvSpPr>
        <p:spPr>
          <a:xfrm>
            <a:off x="640080" y="2103120"/>
            <a:ext cx="685800" cy="685800"/>
          </a:xfrm>
          <a:prstGeom prst="ellipse">
            <a:avLst/>
          </a:prstGeom>
          <a:solidFill>
            <a:srgbClr val="1F6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wrap="square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463040" y="2446020"/>
            <a:ext cx="1874520" cy="0"/>
          </a:xfrm>
          <a:prstGeom prst="line">
            <a:avLst/>
          </a:prstGeom>
          <a:ln w="38100">
            <a:solidFill>
              <a:srgbClr val="DCEFE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3063240"/>
            <a:ext cx="25603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 i="0">
                <a:solidFill>
                  <a:srgbClr val="1D1F1C"/>
                </a:solidFill>
                <a:latin typeface="Cambria"/>
              </a:rPr>
              <a:t>Адаптивная диагностика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023360"/>
            <a:ext cx="256032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5B5F58"/>
                </a:solidFill>
                <a:latin typeface="Calibri"/>
              </a:rPr>
              <a:t>Начинаем со сложной темы. При ошибке спускаемся по графу из 17 тем. Примерно вдвое меньше вопросов, чем в полном тесте.</a:t>
            </a:r>
          </a:p>
        </p:txBody>
      </p:sp>
      <p:sp>
        <p:nvSpPr>
          <p:cNvPr id="8" name="Oval 7"/>
          <p:cNvSpPr/>
          <p:nvPr/>
        </p:nvSpPr>
        <p:spPr>
          <a:xfrm>
            <a:off x="3456432" y="2103120"/>
            <a:ext cx="685800" cy="685800"/>
          </a:xfrm>
          <a:prstGeom prst="ellipse">
            <a:avLst/>
          </a:prstGeom>
          <a:solidFill>
            <a:srgbClr val="1F6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wrap="square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279392" y="2446020"/>
            <a:ext cx="1874520" cy="0"/>
          </a:xfrm>
          <a:prstGeom prst="line">
            <a:avLst/>
          </a:prstGeom>
          <a:ln w="38100">
            <a:solidFill>
              <a:srgbClr val="DCEFE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456432" y="3063240"/>
            <a:ext cx="25603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 i="0">
                <a:solidFill>
                  <a:srgbClr val="1D1F1C"/>
                </a:solidFill>
                <a:latin typeface="Cambria"/>
              </a:rPr>
              <a:t>Карта знаний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56432" y="4023360"/>
            <a:ext cx="256032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5B5F58"/>
                </a:solidFill>
                <a:latin typeface="Calibri"/>
              </a:rPr>
              <a:t>Корневой пробел, цепочки «ошибка в X → корень в Y» и ошибки мышления по выбранным неверным ответам.</a:t>
            </a:r>
          </a:p>
        </p:txBody>
      </p:sp>
      <p:sp>
        <p:nvSpPr>
          <p:cNvPr id="12" name="Oval 11"/>
          <p:cNvSpPr/>
          <p:nvPr/>
        </p:nvSpPr>
        <p:spPr>
          <a:xfrm>
            <a:off x="6272784" y="2103120"/>
            <a:ext cx="685800" cy="685800"/>
          </a:xfrm>
          <a:prstGeom prst="ellipse">
            <a:avLst/>
          </a:prstGeom>
          <a:solidFill>
            <a:srgbClr val="1F6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wrap="square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72784" y="3063240"/>
            <a:ext cx="25603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 i="0">
                <a:solidFill>
                  <a:srgbClr val="1D1F1C"/>
                </a:solidFill>
                <a:latin typeface="Cambria"/>
              </a:rPr>
              <a:t>План снизу вверх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72784" y="4023360"/>
            <a:ext cx="256032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5B5F58"/>
                </a:solidFill>
                <a:latin typeface="Calibri"/>
              </a:rPr>
              <a:t>Правило, пример, разбор своей ошибки и 2 проверочные задачи. Следующая тема откроется после корня.</a:t>
            </a:r>
          </a:p>
        </p:txBody>
      </p:sp>
      <p:sp>
        <p:nvSpPr>
          <p:cNvPr id="15" name="Oval 14"/>
          <p:cNvSpPr/>
          <p:nvPr/>
        </p:nvSpPr>
        <p:spPr>
          <a:xfrm>
            <a:off x="9089136" y="2103120"/>
            <a:ext cx="685800" cy="685800"/>
          </a:xfrm>
          <a:prstGeom prst="ellipse">
            <a:avLst/>
          </a:prstGeom>
          <a:solidFill>
            <a:srgbClr val="142B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wrap="square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89136" y="3063240"/>
            <a:ext cx="25603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 i="0">
                <a:solidFill>
                  <a:srgbClr val="1D1F1C"/>
                </a:solidFill>
                <a:latin typeface="Cambria"/>
              </a:rPr>
              <a:t>Панель учителя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89136" y="4023360"/>
            <a:ext cx="256032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5B5F58"/>
                </a:solidFill>
                <a:latin typeface="Calibri"/>
              </a:rPr>
              <a:t>Корни всего класса, частые ошибки, готовые мини-группы, тепловая карта и CSV.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715000"/>
            <a:ext cx="10881360" cy="594360"/>
          </a:xfrm>
          <a:prstGeom prst="roundRect">
            <a:avLst>
              <a:gd name="adj" fmla="val 12000"/>
            </a:avLst>
          </a:prstGeom>
          <a:solidFill>
            <a:srgbClr val="DCE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5788152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 i="0">
                <a:solidFill>
                  <a:srgbClr val="1F6F5C"/>
                </a:solidFill>
                <a:latin typeface="Calibri"/>
              </a:rPr>
              <a:t>Работает в браузере на любом телефоне, без установки, регистрации и сервера.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F6F5C"/>
                </a:solidFill>
                <a:latin typeface="Calibri"/>
              </a:rPr>
              <a:t>АЛГОРИТМ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1D1F1C"/>
                </a:solidFill>
                <a:latin typeface="Cambria"/>
              </a:rPr>
              <a:t>Как Tamyr ищет корень</a:t>
            </a:r>
          </a:p>
        </p:txBody>
      </p:sp>
      <p:cxnSp>
        <p:nvCxnSpPr>
          <p:cNvPr id="4" name="Connector 3"/>
          <p:cNvCxnSpPr/>
          <p:nvPr/>
        </p:nvCxnSpPr>
        <p:spPr>
          <a:xfrm flipH="1">
            <a:off x="1417319" y="2468880"/>
            <a:ext cx="1737361" cy="594360"/>
          </a:xfrm>
          <a:prstGeom prst="line">
            <a:avLst/>
          </a:prstGeom>
          <a:ln w="19050">
            <a:solidFill>
              <a:srgbClr val="C8C8C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154680" y="2468880"/>
            <a:ext cx="0" cy="594360"/>
          </a:xfrm>
          <a:prstGeom prst="line">
            <a:avLst/>
          </a:prstGeom>
          <a:ln w="31750">
            <a:solidFill>
              <a:srgbClr val="D9534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154680" y="2468880"/>
            <a:ext cx="1737360" cy="594360"/>
          </a:xfrm>
          <a:prstGeom prst="line">
            <a:avLst/>
          </a:prstGeom>
          <a:ln w="19050">
            <a:solidFill>
              <a:srgbClr val="C8C8C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>
            <a:off x="2286000" y="3611880"/>
            <a:ext cx="868680" cy="594360"/>
          </a:xfrm>
          <a:prstGeom prst="line">
            <a:avLst/>
          </a:prstGeom>
          <a:ln w="19050">
            <a:solidFill>
              <a:srgbClr val="C8C8C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154680" y="3611880"/>
            <a:ext cx="868679" cy="594360"/>
          </a:xfrm>
          <a:prstGeom prst="line">
            <a:avLst/>
          </a:prstGeom>
          <a:ln w="31750">
            <a:solidFill>
              <a:srgbClr val="D9534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023359" y="4754879"/>
            <a:ext cx="0" cy="594361"/>
          </a:xfrm>
          <a:prstGeom prst="line">
            <a:avLst/>
          </a:prstGeom>
          <a:ln w="19050">
            <a:solidFill>
              <a:srgbClr val="C8C8C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377440" y="1920240"/>
            <a:ext cx="1554480" cy="548640"/>
          </a:xfrm>
          <a:prstGeom prst="roundRect">
            <a:avLst>
              <a:gd name="adj" fmla="val 12000"/>
            </a:avLst>
          </a:prstGeom>
          <a:solidFill>
            <a:srgbClr val="F8D7D5"/>
          </a:solidFill>
          <a:ln w="25400">
            <a:solidFill>
              <a:srgbClr val="D95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wrap="square"/>
          <a:lstStyle/>
          <a:p>
            <a:pPr algn="ctr"/>
            <a:r>
              <a:rPr sz="1300" b="1">
                <a:solidFill>
                  <a:srgbClr val="1D1F1C"/>
                </a:solidFill>
                <a:latin typeface="Calibri"/>
              </a:rPr>
              <a:t>Кв. уравнения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063240"/>
            <a:ext cx="1554480" cy="548640"/>
          </a:xfrm>
          <a:prstGeom prst="roundRect">
            <a:avLst>
              <a:gd name="adj" fmla="val 12000"/>
            </a:avLst>
          </a:prstGeom>
          <a:solidFill>
            <a:srgbClr val="2E8B57"/>
          </a:solidFill>
          <a:ln w="25400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Разложение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377440" y="3063240"/>
            <a:ext cx="1554480" cy="548640"/>
          </a:xfrm>
          <a:prstGeom prst="roundRect">
            <a:avLst>
              <a:gd name="adj" fmla="val 12000"/>
            </a:avLst>
          </a:prstGeom>
          <a:solidFill>
            <a:srgbClr val="F8D7D5"/>
          </a:solidFill>
          <a:ln w="25400">
            <a:solidFill>
              <a:srgbClr val="D95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wrap="square"/>
          <a:lstStyle/>
          <a:p>
            <a:pPr algn="ctr"/>
            <a:r>
              <a:rPr sz="1300" b="1">
                <a:solidFill>
                  <a:srgbClr val="1D1F1C"/>
                </a:solidFill>
                <a:latin typeface="Calibri"/>
              </a:rPr>
              <a:t>Лин. уравнения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0" y="3063240"/>
            <a:ext cx="1554480" cy="548640"/>
          </a:xfrm>
          <a:prstGeom prst="roundRect">
            <a:avLst>
              <a:gd name="adj" fmla="val 12000"/>
            </a:avLst>
          </a:prstGeom>
          <a:solidFill>
            <a:srgbClr val="2E8B57"/>
          </a:solidFill>
          <a:ln w="25400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Корни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508760" y="4206240"/>
            <a:ext cx="1554480" cy="548640"/>
          </a:xfrm>
          <a:prstGeom prst="roundRect">
            <a:avLst>
              <a:gd name="adj" fmla="val 12000"/>
            </a:avLst>
          </a:prstGeom>
          <a:solidFill>
            <a:srgbClr val="2E8B57"/>
          </a:solidFill>
          <a:ln w="25400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Выражения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46120" y="4206240"/>
            <a:ext cx="1554480" cy="548640"/>
          </a:xfrm>
          <a:prstGeom prst="roundRect">
            <a:avLst>
              <a:gd name="adj" fmla="val 12000"/>
            </a:avLst>
          </a:prstGeom>
          <a:solidFill>
            <a:srgbClr val="D9534F"/>
          </a:solidFill>
          <a:ln w="25400">
            <a:solidFill>
              <a:srgbClr val="D95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Дроби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46120" y="5349240"/>
            <a:ext cx="1554480" cy="548640"/>
          </a:xfrm>
          <a:prstGeom prst="roundRect">
            <a:avLst>
              <a:gd name="adj" fmla="val 12000"/>
            </a:avLst>
          </a:prstGeom>
          <a:solidFill>
            <a:srgbClr val="2E8B57"/>
          </a:solidFill>
          <a:ln w="25400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Арифметика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08076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5B5F58"/>
                </a:solidFill>
                <a:latin typeface="Calibri"/>
              </a:rPr>
              <a:t>Зелёный — освоено, красный — пробел, насыщенный красный — корень</a:t>
            </a:r>
          </a:p>
        </p:txBody>
      </p:sp>
      <p:sp>
        <p:nvSpPr>
          <p:cNvPr id="18" name="Oval 17"/>
          <p:cNvSpPr/>
          <p:nvPr/>
        </p:nvSpPr>
        <p:spPr>
          <a:xfrm>
            <a:off x="6309360" y="1993392"/>
            <a:ext cx="292608" cy="292608"/>
          </a:xfrm>
          <a:prstGeom prst="ellipse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0" y="192024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D1F1C"/>
                </a:solidFill>
                <a:latin typeface="Calibri"/>
              </a:rPr>
              <a:t>Решил тему без ошибок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2267712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5B5F58"/>
                </a:solidFill>
                <a:latin typeface="Calibri"/>
              </a:rPr>
              <a:t>→ всё, на чём она держится, засчитано без вопросов</a:t>
            </a:r>
          </a:p>
        </p:txBody>
      </p:sp>
      <p:sp>
        <p:nvSpPr>
          <p:cNvPr id="21" name="Oval 20"/>
          <p:cNvSpPr/>
          <p:nvPr/>
        </p:nvSpPr>
        <p:spPr>
          <a:xfrm>
            <a:off x="6309360" y="2862072"/>
            <a:ext cx="292608" cy="292608"/>
          </a:xfrm>
          <a:prstGeom prst="ellipse">
            <a:avLst/>
          </a:prstGeom>
          <a:solidFill>
            <a:srgbClr val="D95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66560" y="278892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D1F1C"/>
                </a:solidFill>
                <a:latin typeface="Calibri"/>
              </a:rPr>
              <a:t>Ошибся дважды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60" y="3136391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5B5F58"/>
                </a:solidFill>
                <a:latin typeface="Calibri"/>
              </a:rPr>
              <a:t>→ спускаемся к непроверенным пререквизитам</a:t>
            </a:r>
          </a:p>
        </p:txBody>
      </p:sp>
      <p:sp>
        <p:nvSpPr>
          <p:cNvPr id="24" name="Oval 23"/>
          <p:cNvSpPr/>
          <p:nvPr/>
        </p:nvSpPr>
        <p:spPr>
          <a:xfrm>
            <a:off x="6309360" y="3730752"/>
            <a:ext cx="292608" cy="292608"/>
          </a:xfrm>
          <a:prstGeom prst="ellipse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0" y="365760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D1F1C"/>
                </a:solidFill>
                <a:latin typeface="Calibri"/>
              </a:rPr>
              <a:t>Неверный вариант с меткой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60" y="4005072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5B5F58"/>
                </a:solidFill>
                <a:latin typeface="Calibri"/>
              </a:rPr>
              <a:t>→ сначала проверяем «домашнюю» тему этой ошибки</a:t>
            </a:r>
          </a:p>
        </p:txBody>
      </p:sp>
      <p:sp>
        <p:nvSpPr>
          <p:cNvPr id="27" name="Oval 26"/>
          <p:cNvSpPr/>
          <p:nvPr/>
        </p:nvSpPr>
        <p:spPr>
          <a:xfrm>
            <a:off x="6309360" y="4599431"/>
            <a:ext cx="292608" cy="292608"/>
          </a:xfrm>
          <a:prstGeom prst="ellipse">
            <a:avLst/>
          </a:prstGeom>
          <a:solidFill>
            <a:srgbClr val="142B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0" y="4526279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D1F1C"/>
                </a:solidFill>
                <a:latin typeface="Calibri"/>
              </a:rPr>
              <a:t>Корень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66560" y="4873751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5B5F58"/>
                </a:solidFill>
                <a:latin typeface="Calibri"/>
              </a:rPr>
              <a:t>= пробел, под которым пробелов нет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09360" y="5440680"/>
            <a:ext cx="5212080" cy="960120"/>
          </a:xfrm>
          <a:prstGeom prst="roundRect">
            <a:avLst>
              <a:gd name="adj" fmla="val 12000"/>
            </a:avLst>
          </a:prstGeom>
          <a:solidFill>
            <a:srgbClr val="F3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37960" y="5513832"/>
            <a:ext cx="48463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D9534F"/>
                </a:solidFill>
                <a:latin typeface="Calibri"/>
              </a:rPr>
              <a:t>1/2 + 1/3 = 2/5</a:t>
            </a:r>
            <a:r>
              <a:rPr sz="1400" b="0" i="0">
                <a:solidFill>
                  <a:srgbClr val="5B5F58"/>
                </a:solidFill>
                <a:latin typeface="Calibri"/>
              </a:rPr>
              <a:t>   значит</a:t>
            </a:r>
          </a:p>
          <a:p>
            <a:pPr algn="l"/>
            <a:r>
              <a:rPr sz="1400" b="0" i="0">
                <a:solidFill>
                  <a:srgbClr val="1D1F1C"/>
                </a:solidFill>
                <a:latin typeface="Calibri"/>
              </a:rPr>
              <a:t>«складывает числители с числителями, знаменатели со знаменателями» → тема «Дроби»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F6F5C"/>
                </a:solidFill>
                <a:latin typeface="Calibri"/>
              </a:rPr>
              <a:t>ПРОДУКТ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1D1F1C"/>
                </a:solidFill>
                <a:latin typeface="Cambria"/>
              </a:rPr>
              <a:t>Демо: карта знаний ученика</a:t>
            </a:r>
          </a:p>
        </p:txBody>
      </p:sp>
      <p:pic>
        <p:nvPicPr>
          <p:cNvPr id="4" name="Picture 3" descr="demo.png"/>
          <p:cNvPicPr>
            <a:picLocks noChangeAspect="1"/>
          </p:cNvPicPr>
          <p:nvPr/>
        </p:nvPicPr>
        <p:blipFill>
          <a:blip r:embed="rId2"/>
          <a:srcRect b="20000"/>
          <a:stretch>
            <a:fillRect/>
          </a:stretch>
        </p:blipFill>
        <p:spPr>
          <a:xfrm>
            <a:off x="640080" y="1783080"/>
            <a:ext cx="6949440" cy="3860800"/>
          </a:xfrm>
          <a:prstGeom prst="rect">
            <a:avLst/>
          </a:prstGeom>
          <a:ln w="12700">
            <a:solidFill>
              <a:srgbClr val="DDDDD5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8001000" y="182880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1F6F5C"/>
                </a:solidFill>
                <a:latin typeface="Calibri"/>
              </a:rPr>
              <a:t>14 вопросов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1000" y="2212848"/>
            <a:ext cx="35661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B5F58"/>
                </a:solidFill>
                <a:latin typeface="Calibri"/>
              </a:rPr>
              <a:t>на тему «Квадратные уравнения» и все её основы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1000" y="2907791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1F6F5C"/>
                </a:solidFill>
                <a:latin typeface="Calibri"/>
              </a:rPr>
              <a:t>Корень — «Дроби»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1000" y="3291839"/>
            <a:ext cx="35661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B5F58"/>
                </a:solidFill>
                <a:latin typeface="Calibri"/>
              </a:rPr>
              <a:t>хотя ошибки видны в квадратных и линейных уравнениях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1000" y="3986783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1F6F5C"/>
                </a:solidFill>
                <a:latin typeface="Calibri"/>
              </a:rPr>
              <a:t>Ошибки мышления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1000" y="4370831"/>
            <a:ext cx="35661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B5F58"/>
                </a:solidFill>
                <a:latin typeface="Calibri"/>
              </a:rPr>
              <a:t>по выбранным вариантам с правилом исправления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1000" y="5065776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1F6F5C"/>
                </a:solidFill>
                <a:latin typeface="Calibri"/>
              </a:rPr>
              <a:t>План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1000" y="5449824"/>
            <a:ext cx="35661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B5F58"/>
                </a:solidFill>
                <a:latin typeface="Calibri"/>
              </a:rPr>
              <a:t>«Разобрать» → урок → 2 задачи → следующая тема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F6F5C"/>
                </a:solidFill>
                <a:latin typeface="Calibri"/>
              </a:rPr>
              <a:t>ПАНЕЛЬ УЧИТЕЛЯ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1D1F1C"/>
                </a:solidFill>
                <a:latin typeface="Cambria"/>
              </a:rPr>
              <a:t>Учитель видит корни всего класса</a:t>
            </a:r>
          </a:p>
        </p:txBody>
      </p:sp>
      <p:pic>
        <p:nvPicPr>
          <p:cNvPr id="4" name="Picture 3" descr="teacher.png"/>
          <p:cNvPicPr>
            <a:picLocks noChangeAspect="1"/>
          </p:cNvPicPr>
          <p:nvPr/>
        </p:nvPicPr>
        <p:blipFill>
          <a:blip r:embed="rId2"/>
          <a:srcRect b="12000"/>
          <a:stretch>
            <a:fillRect/>
          </a:stretch>
        </p:blipFill>
        <p:spPr>
          <a:xfrm>
            <a:off x="4572000" y="1783080"/>
            <a:ext cx="6949440" cy="4246880"/>
          </a:xfrm>
          <a:prstGeom prst="rect">
            <a:avLst/>
          </a:prstGeom>
          <a:ln w="12700">
            <a:solidFill>
              <a:srgbClr val="DDDDD5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640080" y="182880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1F6F5C"/>
                </a:solidFill>
                <a:latin typeface="Calibri"/>
              </a:rPr>
              <a:t>Корневые пробелы класса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12848"/>
            <a:ext cx="3657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B5F58"/>
                </a:solidFill>
                <a:latin typeface="Calibri"/>
              </a:rPr>
              <a:t>какие базовые темы тянут класс вниз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907791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1F6F5C"/>
                </a:solidFill>
                <a:latin typeface="Calibri"/>
              </a:rPr>
              <a:t>Мини-группы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91839"/>
            <a:ext cx="3657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B5F58"/>
                </a:solidFill>
                <a:latin typeface="Calibri"/>
              </a:rPr>
              <a:t>кого с кем посадить на 15-минутный разбор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986783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1F6F5C"/>
                </a:solidFill>
                <a:latin typeface="Calibri"/>
              </a:rPr>
              <a:t>Тепловая карта и CSV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370831"/>
            <a:ext cx="3657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B5F58"/>
                </a:solidFill>
                <a:latin typeface="Calibri"/>
              </a:rPr>
              <a:t>ученик × тема, выгрузка в журнал или Excel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065776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1F6F5C"/>
                </a:solidFill>
                <a:latin typeface="Calibri"/>
              </a:rPr>
              <a:t>Без сервера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449824"/>
            <a:ext cx="3657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B5F58"/>
                </a:solidFill>
                <a:latin typeface="Calibri"/>
              </a:rPr>
              <a:t>ученик передаёт результат кодом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26364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5B5F58"/>
                </a:solidFill>
                <a:latin typeface="Calibri"/>
              </a:rPr>
              <a:t>Демо-класс на скриншоте — 24 виртуальных ученика, прогнанных через тот же движок (симуляция, не реальные данные).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B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9FD9C4"/>
                </a:solidFill>
                <a:latin typeface="Calibri"/>
              </a:rPr>
              <a:t>ВАЛИДАЦИЯ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mbria"/>
              </a:rPr>
              <a:t>Что уже проверено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65960"/>
            <a:ext cx="2651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1" i="0">
                <a:solidFill>
                  <a:srgbClr val="9FD9C4"/>
                </a:solidFill>
                <a:latin typeface="Cambria"/>
              </a:rPr>
              <a:t>81%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926080"/>
            <a:ext cx="26517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D8E6E0"/>
                </a:solidFill>
                <a:latin typeface="Calibri"/>
              </a:rPr>
              <a:t>настоящих корней
найдено (полнота)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0" y="1965960"/>
            <a:ext cx="2651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1" i="0">
                <a:solidFill>
                  <a:srgbClr val="9FD9C4"/>
                </a:solidFill>
                <a:latin typeface="Cambria"/>
              </a:rPr>
              <a:t>75%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0" y="2926080"/>
            <a:ext cx="26517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D8E6E0"/>
                </a:solidFill>
                <a:latin typeface="Calibri"/>
              </a:rPr>
              <a:t>найденных корней
верны (точность)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965960"/>
            <a:ext cx="2651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1" i="0">
                <a:solidFill>
                  <a:srgbClr val="9FD9C4"/>
                </a:solidFill>
                <a:latin typeface="Cambria"/>
              </a:rPr>
              <a:t>25 / 51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2926080"/>
            <a:ext cx="26517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D8E6E0"/>
                </a:solidFill>
                <a:latin typeface="Calibri"/>
              </a:rPr>
              <a:t>вопросов в среднем
вместо полного теста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0" y="1965960"/>
            <a:ext cx="2651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1" i="0">
                <a:solidFill>
                  <a:srgbClr val="9FD9C4"/>
                </a:solidFill>
                <a:latin typeface="Cambria"/>
              </a:rPr>
              <a:t>13 / 13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2926080"/>
            <a:ext cx="26517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D8E6E0"/>
                </a:solidFill>
                <a:latin typeface="Calibri"/>
              </a:rPr>
              <a:t>юнит-тестов
движка проходят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977639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B5CCC3"/>
                </a:solidFill>
                <a:latin typeface="Calibri"/>
              </a:rPr>
              <a:t>Симуляция 1000 учеников с известными пробелами: угадывание 20%, ошибки в знакомых темах 8%. Без шума алгоритм находит 100% корней. Точность ограничена угадыванием при 4 вариантах.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846320"/>
            <a:ext cx="10881360" cy="1371600"/>
          </a:xfrm>
          <a:prstGeom prst="roundRect">
            <a:avLst>
              <a:gd name="adj" fmla="val 12000"/>
            </a:avLst>
          </a:prstGeom>
          <a:solidFill>
            <a:srgbClr val="1F3D35"/>
          </a:solidFill>
          <a:ln w="25400">
            <a:solidFill>
              <a:srgbClr val="9FD9C4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983480"/>
            <a:ext cx="1033272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Проверка на людях — заполните реальными данными: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D8E6E0"/>
                </a:solidFill>
                <a:latin typeface="Calibri"/>
              </a:rPr>
              <a:t>опрос учеников (n = __), интервью с учителями (__ чел.), мини-пилот: совпадение корня с мнением учителя __ из __. Шаблоны: docs/validation-plan.md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F6F5C"/>
                </a:solidFill>
                <a:latin typeface="Calibri"/>
              </a:rPr>
              <a:t>ВНЕДРЕНИЕ И МОДЕЛЬ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1D1F1C"/>
                </a:solidFill>
                <a:latin typeface="Cambria"/>
              </a:rPr>
              <a:t>Реализуемо уже сейчас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920240"/>
            <a:ext cx="3474720" cy="4114800"/>
          </a:xfrm>
          <a:prstGeom prst="roundRect">
            <a:avLst>
              <a:gd name="adj" fmla="val 5000"/>
            </a:avLst>
          </a:prstGeom>
          <a:solidFill>
            <a:srgbClr val="F3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14884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 i="0">
                <a:solidFill>
                  <a:srgbClr val="1F6F5C"/>
                </a:solidFill>
                <a:latin typeface="Cambria"/>
              </a:rPr>
              <a:t>Технологии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743200"/>
            <a:ext cx="297180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1168" indent="-201168">
              <a:spcAft>
                <a:spcPts val="1000"/>
              </a:spcAft>
              <a:buChar char="•"/>
            </a:pPr>
            <a:r>
              <a:rPr sz="1500" b="0" i="0">
                <a:solidFill>
                  <a:srgbClr val="1D1F1C"/>
                </a:solidFill>
                <a:latin typeface="Calibri"/>
              </a:rPr>
              <a:t>HTML/CSS/JS без зависимостей</a:t>
            </a:r>
          </a:p>
          <a:p>
            <a:pPr algn="l" marL="201168" indent="-201168">
              <a:spcAft>
                <a:spcPts val="1000"/>
              </a:spcAft>
              <a:buChar char="•"/>
            </a:pPr>
            <a:r>
              <a:rPr sz="1500" b="0" i="0">
                <a:solidFill>
                  <a:srgbClr val="1D1F1C"/>
                </a:solidFill>
                <a:latin typeface="Calibri"/>
              </a:rPr>
              <a:t>Работает офлайн на любом телефоне</a:t>
            </a:r>
          </a:p>
          <a:p>
            <a:pPr algn="l" marL="201168" indent="-201168">
              <a:spcAft>
                <a:spcPts val="1000"/>
              </a:spcAft>
              <a:buChar char="•"/>
            </a:pPr>
            <a:r>
              <a:rPr sz="1500" b="0" i="0">
                <a:solidFill>
                  <a:srgbClr val="1D1F1C"/>
                </a:solidFill>
                <a:latin typeface="Calibri"/>
              </a:rPr>
              <a:t>Граф и банк заданий — данные: новый предмет = новый файл</a:t>
            </a:r>
          </a:p>
          <a:p>
            <a:pPr algn="l" marL="201168" indent="-201168">
              <a:spcAft>
                <a:spcPts val="1000"/>
              </a:spcAft>
              <a:buChar char="•"/>
            </a:pPr>
            <a:r>
              <a:rPr sz="1500" b="0" i="0">
                <a:solidFill>
                  <a:srgbClr val="1D1F1C"/>
                </a:solidFill>
                <a:latin typeface="Calibri"/>
              </a:rPr>
              <a:t>Персональные данные остаются на устройстве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920240"/>
            <a:ext cx="3474720" cy="4114800"/>
          </a:xfrm>
          <a:prstGeom prst="roundRect">
            <a:avLst>
              <a:gd name="adj" fmla="val 5000"/>
            </a:avLst>
          </a:prstGeom>
          <a:solidFill>
            <a:srgbClr val="F3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0" y="214884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 i="0">
                <a:solidFill>
                  <a:srgbClr val="1F6F5C"/>
                </a:solidFill>
                <a:latin typeface="Cambria"/>
              </a:rPr>
              <a:t>Кому и за сколько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2743200"/>
            <a:ext cx="297180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1168" indent="-201168">
              <a:spcAft>
                <a:spcPts val="1000"/>
              </a:spcAft>
              <a:buChar char="•"/>
            </a:pPr>
            <a:r>
              <a:rPr sz="1500" b="0" i="0">
                <a:solidFill>
                  <a:srgbClr val="1D1F1C"/>
                </a:solidFill>
                <a:latin typeface="Calibri"/>
              </a:rPr>
              <a:t>Ученикам: бесплатная диагностика, платные банки (геометрия, мат. грамотность)</a:t>
            </a:r>
          </a:p>
          <a:p>
            <a:pPr algn="l" marL="201168" indent="-201168">
              <a:spcAft>
                <a:spcPts val="1000"/>
              </a:spcAft>
              <a:buChar char="•"/>
            </a:pPr>
            <a:r>
              <a:rPr sz="1500" b="0" i="0">
                <a:solidFill>
                  <a:srgbClr val="1D1F1C"/>
                </a:solidFill>
                <a:latin typeface="Calibri"/>
              </a:rPr>
              <a:t>Школам: панель учителя, подписка за класс</a:t>
            </a:r>
          </a:p>
          <a:p>
            <a:pPr algn="l" marL="201168" indent="-201168">
              <a:spcAft>
                <a:spcPts val="1000"/>
              </a:spcAft>
              <a:buChar char="•"/>
            </a:pPr>
            <a:r>
              <a:rPr sz="1500" b="0" i="0">
                <a:solidFill>
                  <a:srgbClr val="1D1F1C"/>
                </a:solidFill>
                <a:latin typeface="Calibri"/>
              </a:rPr>
              <a:t>Учебным центрам: входная диагностика новых учеников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59" y="1920240"/>
            <a:ext cx="3474720" cy="4114800"/>
          </a:xfrm>
          <a:prstGeom prst="roundRect">
            <a:avLst>
              <a:gd name="adj" fmla="val 5000"/>
            </a:avLst>
          </a:prstGeom>
          <a:solidFill>
            <a:srgbClr val="F3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0" y="214884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 i="0">
                <a:solidFill>
                  <a:srgbClr val="1F6F5C"/>
                </a:solidFill>
                <a:latin typeface="Cambria"/>
              </a:rPr>
              <a:t>Для запуска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2743200"/>
            <a:ext cx="297180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1168" indent="-201168">
              <a:spcAft>
                <a:spcPts val="1000"/>
              </a:spcAft>
              <a:buChar char="•"/>
            </a:pPr>
            <a:r>
              <a:rPr sz="1500" b="0" i="0">
                <a:solidFill>
                  <a:srgbClr val="1D1F1C"/>
                </a:solidFill>
                <a:latin typeface="Calibri"/>
              </a:rPr>
              <a:t>Проверка графа 2–3 учителями</a:t>
            </a:r>
          </a:p>
          <a:p>
            <a:pPr algn="l" marL="201168" indent="-201168">
              <a:spcAft>
                <a:spcPts val="1000"/>
              </a:spcAft>
              <a:buChar char="•"/>
            </a:pPr>
            <a:r>
              <a:rPr sz="1500" b="0" i="0">
                <a:solidFill>
                  <a:srgbClr val="1D1F1C"/>
                </a:solidFill>
                <a:latin typeface="Calibri"/>
              </a:rPr>
              <a:t>Банк 5–6 вопросов на тему</a:t>
            </a:r>
          </a:p>
          <a:p>
            <a:pPr algn="l" marL="201168" indent="-201168">
              <a:spcAft>
                <a:spcPts val="1000"/>
              </a:spcAft>
              <a:buChar char="•"/>
            </a:pPr>
            <a:r>
              <a:rPr sz="1500" b="0" i="0">
                <a:solidFill>
                  <a:srgbClr val="1D1F1C"/>
                </a:solidFill>
                <a:latin typeface="Calibri"/>
              </a:rPr>
              <a:t>Казахская версия</a:t>
            </a:r>
          </a:p>
          <a:p>
            <a:pPr algn="l" marL="201168" indent="-201168">
              <a:spcAft>
                <a:spcPts val="1000"/>
              </a:spcAft>
              <a:buChar char="•"/>
            </a:pPr>
            <a:r>
              <a:rPr sz="1500" b="0" i="0">
                <a:solidFill>
                  <a:srgbClr val="1D1F1C"/>
                </a:solidFill>
                <a:latin typeface="Calibri"/>
              </a:rPr>
              <a:t>Пилот в 2–3 классах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B25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1005840" y="548640"/>
            <a:ext cx="0" cy="288036"/>
          </a:xfrm>
          <a:prstGeom prst="line">
            <a:avLst/>
          </a:prstGeom>
          <a:ln w="44450">
            <a:solidFill>
              <a:srgbClr val="9FD9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 flipH="1">
            <a:off x="762609" y="836676"/>
            <a:ext cx="243231" cy="352043"/>
          </a:xfrm>
          <a:prstGeom prst="line">
            <a:avLst/>
          </a:prstGeom>
          <a:ln w="44450">
            <a:solidFill>
              <a:srgbClr val="9FD9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005840" y="836676"/>
            <a:ext cx="243230" cy="352043"/>
          </a:xfrm>
          <a:prstGeom prst="line">
            <a:avLst/>
          </a:prstGeom>
          <a:ln w="44450">
            <a:solidFill>
              <a:srgbClr val="9FD9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005840" y="836676"/>
            <a:ext cx="0" cy="352043"/>
          </a:xfrm>
          <a:prstGeom prst="line">
            <a:avLst/>
          </a:prstGeom>
          <a:ln w="44450">
            <a:solidFill>
              <a:srgbClr val="9FD9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H="1" flipV="1">
            <a:off x="813816" y="548640"/>
            <a:ext cx="192024" cy="128016"/>
          </a:xfrm>
          <a:prstGeom prst="line">
            <a:avLst/>
          </a:prstGeom>
          <a:ln w="44450">
            <a:solidFill>
              <a:srgbClr val="9FD9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1005840" y="548640"/>
            <a:ext cx="192024" cy="128016"/>
          </a:xfrm>
          <a:prstGeom prst="line">
            <a:avLst/>
          </a:prstGeom>
          <a:ln w="44450">
            <a:solidFill>
              <a:srgbClr val="9FD9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40080" y="141732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mbria"/>
              </a:rPr>
              <a:t>Дальше — от прототипа к классу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2606040"/>
            <a:ext cx="365760" cy="365760"/>
          </a:xfrm>
          <a:prstGeom prst="ellipse">
            <a:avLst/>
          </a:prstGeom>
          <a:solidFill>
            <a:srgbClr val="9FD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1097280" y="2788920"/>
            <a:ext cx="2286000" cy="0"/>
          </a:xfrm>
          <a:prstGeom prst="line">
            <a:avLst/>
          </a:prstGeom>
          <a:ln w="25400">
            <a:solidFill>
              <a:srgbClr val="3A6B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40080" y="315468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9FD9C4"/>
                </a:solidFill>
                <a:latin typeface="Calibri"/>
              </a:rPr>
              <a:t>Сейчас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566160"/>
            <a:ext cx="25603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D8E6E0"/>
                </a:solidFill>
                <a:latin typeface="Calibri"/>
              </a:rPr>
              <a:t>MVP: 17 тем, 52 задания, 43 ошибки мышления, панель учителя</a:t>
            </a:r>
          </a:p>
        </p:txBody>
      </p:sp>
      <p:sp>
        <p:nvSpPr>
          <p:cNvPr id="13" name="Oval 12"/>
          <p:cNvSpPr/>
          <p:nvPr/>
        </p:nvSpPr>
        <p:spPr>
          <a:xfrm>
            <a:off x="3474720" y="2606040"/>
            <a:ext cx="365760" cy="365760"/>
          </a:xfrm>
          <a:prstGeom prst="ellipse">
            <a:avLst/>
          </a:prstGeom>
          <a:solidFill>
            <a:srgbClr val="3A6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>
            <a:off x="3931920" y="2788920"/>
            <a:ext cx="2286000" cy="0"/>
          </a:xfrm>
          <a:prstGeom prst="line">
            <a:avLst/>
          </a:prstGeom>
          <a:ln w="25400">
            <a:solidFill>
              <a:srgbClr val="3A6B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3474720" y="315468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9FD9C4"/>
                </a:solidFill>
                <a:latin typeface="Calibri"/>
              </a:rPr>
              <a:t>1 месяц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3566160"/>
            <a:ext cx="25603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D8E6E0"/>
                </a:solidFill>
                <a:latin typeface="Calibri"/>
              </a:rPr>
              <a:t>Пилот в 2–3 классах, казахский язык</a:t>
            </a:r>
          </a:p>
        </p:txBody>
      </p:sp>
      <p:sp>
        <p:nvSpPr>
          <p:cNvPr id="17" name="Oval 16"/>
          <p:cNvSpPr/>
          <p:nvPr/>
        </p:nvSpPr>
        <p:spPr>
          <a:xfrm>
            <a:off x="6309360" y="2606040"/>
            <a:ext cx="365760" cy="365760"/>
          </a:xfrm>
          <a:prstGeom prst="ellipse">
            <a:avLst/>
          </a:prstGeom>
          <a:solidFill>
            <a:srgbClr val="3A6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</a:p>
        </p:txBody>
      </p:sp>
      <p:cxnSp>
        <p:nvCxnSpPr>
          <p:cNvPr id="18" name="Connector 17"/>
          <p:cNvCxnSpPr/>
          <p:nvPr/>
        </p:nvCxnSpPr>
        <p:spPr>
          <a:xfrm>
            <a:off x="6766560" y="2788920"/>
            <a:ext cx="2286000" cy="0"/>
          </a:xfrm>
          <a:prstGeom prst="line">
            <a:avLst/>
          </a:prstGeom>
          <a:ln w="25400">
            <a:solidFill>
              <a:srgbClr val="3A6B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309360" y="315468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9FD9C4"/>
                </a:solidFill>
                <a:latin typeface="Calibri"/>
              </a:rPr>
              <a:t>3 месяца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3566160"/>
            <a:ext cx="25603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D8E6E0"/>
                </a:solidFill>
                <a:latin typeface="Calibri"/>
              </a:rPr>
              <a:t>Байесовская модель освоения, 5–6 вопросов на тему</a:t>
            </a:r>
          </a:p>
        </p:txBody>
      </p:sp>
      <p:sp>
        <p:nvSpPr>
          <p:cNvPr id="21" name="Oval 20"/>
          <p:cNvSpPr/>
          <p:nvPr/>
        </p:nvSpPr>
        <p:spPr>
          <a:xfrm>
            <a:off x="9144000" y="2606040"/>
            <a:ext cx="365760" cy="365760"/>
          </a:xfrm>
          <a:prstGeom prst="ellipse">
            <a:avLst/>
          </a:prstGeom>
          <a:solidFill>
            <a:srgbClr val="3A6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0" y="315468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9FD9C4"/>
                </a:solidFill>
                <a:latin typeface="Calibri"/>
              </a:rPr>
              <a:t>6 месяцев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3566160"/>
            <a:ext cx="25603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D8E6E0"/>
                </a:solidFill>
                <a:latin typeface="Calibri"/>
              </a:rPr>
              <a:t>Геометрия и мат. грамотность ЕНТ, вход по коду класса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029200"/>
            <a:ext cx="10881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Команда: [Имя — роль] · [Имя — роль] · [Имя — роль]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532120"/>
            <a:ext cx="10881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B5CCC3"/>
                </a:solidFill>
                <a:latin typeface="Calibri"/>
              </a:rPr>
              <a:t>GitHub: [ссылка на репозиторий]   ·   Демо: [ссылка на GitHub Pages]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