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Tamyr — по-казахски «корень». Мы в треке EduTech. Мы находим не ошибку, а её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проблемы. Ученица повторяет квадратные уравнения, но корень — в дробях 6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проверены по первоисточникам (README → «Источники»): OECD PISA 2022 Country Note: Kazakhstan; ЕНТ-2025 — Вечерняя Астана, 02.06.2025. Если провели опрос, назовите свою цифру; если нет, удалите нижнюю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Объясните правила движка. Ключевая особенность: неверный вариант ответа говорит, какая именно это ошибка.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#setup → «Квадратные уравнения» → отвечать как ученик с пробелом в дробях. Запасной вариант: #demo.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утверждайте, что идея уникальна: жюри может знать ALEKS и Eedi. Перед защитой проверьте актуальные описания конкурентов на их сайтах.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Говорите честно: это симуляция. Затем назовите то, что проверили на людях. Если ничего не успели, скажите, что пилот запланирован, и удалите пустые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Цены — гипотезы, их надо проверить на интервью (docs/validation-plan.md, вопрос 5 для учителей). 184 тыс. — оценка: 216 тыс. минус около 15% творческих специальностей.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325880" y="182879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54679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86200" y="4114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86200" y="13258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486400"/>
            <a:ext cx="4480560" cy="685800"/>
          </a:xfrm>
          <a:prstGeom prst="ellipse">
            <a:avLst/>
          </a:prstGeom>
          <a:solidFill>
            <a:srgbClr val="082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422392"/>
            <a:ext cx="4206240" cy="548640"/>
          </a:xfrm>
          <a:prstGeom prst="ellipse">
            <a:avLst/>
          </a:prstGeom>
          <a:solidFill>
            <a:srgbClr val="1A1F2A"/>
          </a:solidFill>
          <a:ln w="31750">
            <a:solidFill>
              <a:srgbClr val="5B8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1897380" y="162466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Кв.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6972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Лин.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уравнения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0975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Корни</a:t>
            </a:r>
          </a:p>
        </p:txBody>
      </p:sp>
      <p:sp>
        <p:nvSpPr>
          <p:cNvPr id="21" name="Hexagon 20"/>
          <p:cNvSpPr/>
          <p:nvPr/>
        </p:nvSpPr>
        <p:spPr>
          <a:xfrm>
            <a:off x="1897380" y="3010433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Дроби</a:t>
            </a:r>
          </a:p>
        </p:txBody>
      </p:sp>
      <p:sp>
        <p:nvSpPr>
          <p:cNvPr id="22" name="Hexagon 21"/>
          <p:cNvSpPr/>
          <p:nvPr/>
        </p:nvSpPr>
        <p:spPr>
          <a:xfrm>
            <a:off x="6972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082F66"/>
                </a:solidFill>
                <a:latin typeface="Arial Black"/>
              </a:rPr>
              <a:t>Проценты</a:t>
            </a:r>
          </a:p>
        </p:txBody>
      </p:sp>
      <p:sp>
        <p:nvSpPr>
          <p:cNvPr id="23" name="Hexagon 22"/>
          <p:cNvSpPr/>
          <p:nvPr/>
        </p:nvSpPr>
        <p:spPr>
          <a:xfrm>
            <a:off x="30975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Степени</a:t>
            </a:r>
          </a:p>
        </p:txBody>
      </p:sp>
      <p:sp>
        <p:nvSpPr>
          <p:cNvPr id="24" name="Hexagon 23"/>
          <p:cNvSpPr/>
          <p:nvPr/>
        </p:nvSpPr>
        <p:spPr>
          <a:xfrm>
            <a:off x="1897380" y="439620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082F66"/>
                </a:solidFill>
                <a:latin typeface="Arial Black"/>
              </a:rPr>
              <a:t>Арифметика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30552" y="3941063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900" b="0">
                <a:solidFill>
                  <a:srgbClr val="E0473E"/>
                </a:solidFill>
                <a:latin typeface="Arial Black"/>
              </a:rPr>
              <a:t>КОРЕНЬ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0040" y="6355080"/>
            <a:ext cx="5486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68680" y="6126480"/>
            <a:ext cx="274320" cy="22860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43000" y="6126480"/>
            <a:ext cx="64008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78892" y="63139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41932" y="60853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863840" y="5989320"/>
            <a:ext cx="73152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595360" y="5715000"/>
            <a:ext cx="274320" cy="27432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869680" y="5715000"/>
            <a:ext cx="10058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822692" y="594817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34372" y="567385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66959" y="521208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515600" y="548640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201400" y="557784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585216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67159" y="530352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78892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11111"/>
                </a:solidFill>
                <a:latin typeface="Arial Black"/>
              </a:rPr>
              <a:t>НАХОДИМ КОРЕНЬ ОШИБКИ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Адаптивная диагностика по математике для ЕНТ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977639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Arial Black"/>
              </a:rPr>
              <a:t>За один тест показывает базовую тему, из-за которой «сыпятся» все следующие. Тамыр (каз.) — корень.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983480"/>
            <a:ext cx="26517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Трек 2 · EduTech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8A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6309359" y="681959"/>
            <a:ext cx="6766560" cy="5859840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5852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ПРОБЛЕМА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УЧЕНИК ПОВТОРЯЕТ
НЕ ТУ ТЕМУ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0B4DA2"/>
                </a:solidFill>
                <a:latin typeface="Arial Black"/>
              </a:rPr>
              <a:t>Пример: </a:t>
            </a:r>
            <a:r>
              <a:rPr sz="1500" b="0" i="0">
                <a:solidFill>
                  <a:srgbClr val="4A4F57"/>
                </a:solidFill>
                <a:latin typeface="Arial Black"/>
              </a:rPr>
              <a:t>ученица готовится к ЕНТ и ошибается в квадратных уравнениях.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4A4F57"/>
                </a:solidFill>
                <a:latin typeface="Arial Black"/>
              </a:rPr>
              <a:t>Пробник советует: «Повторите квадратные уравнения». Она повторяет, а ошибки остаются.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4A4F57"/>
                </a:solidFill>
                <a:latin typeface="Arial Black"/>
              </a:rPr>
              <a:t>Настоящая причина лежит на три темы ниже: </a:t>
            </a:r>
            <a:r>
              <a:rPr sz="1500" b="0" i="0">
                <a:solidFill>
                  <a:srgbClr val="E0473E"/>
                </a:solidFill>
                <a:latin typeface="Arial Black"/>
              </a:rPr>
              <a:t>она неверно складывает дроби</a:t>
            </a:r>
            <a:r>
              <a:rPr sz="1500" b="0" i="0">
                <a:solidFill>
                  <a:srgbClr val="4A4F57"/>
                </a:solidFill>
                <a:latin typeface="Arial Black"/>
              </a:rPr>
              <a:t> — это материал 6 класса.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0B4DA2"/>
                </a:solidFill>
                <a:latin typeface="Arial Black"/>
              </a:rPr>
              <a:t>Тест показывает симптом, но не диагноз.</a:t>
            </a:r>
          </a:p>
        </p:txBody>
      </p:sp>
      <p:sp>
        <p:nvSpPr>
          <p:cNvPr id="14" name="Hexagon 13"/>
          <p:cNvSpPr/>
          <p:nvPr/>
        </p:nvSpPr>
        <p:spPr>
          <a:xfrm>
            <a:off x="7498079" y="160020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0B4DA2"/>
                </a:solidFill>
                <a:latin typeface="Arial Black"/>
              </a:rPr>
              <a:t>Квадратные уравнения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5146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ошибка видна здесь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01200" y="278892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498079" y="306324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0B4DA2"/>
                </a:solidFill>
                <a:latin typeface="Arial Black"/>
              </a:rPr>
              <a:t>Линейные уравнения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97763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ошибка тянется отсюда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0" y="425196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Hexagon 19"/>
          <p:cNvSpPr/>
          <p:nvPr/>
        </p:nvSpPr>
        <p:spPr>
          <a:xfrm>
            <a:off x="7498079" y="452628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3175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FFFFFF"/>
                </a:solidFill>
                <a:latin typeface="Arial Black"/>
              </a:rPr>
              <a:t>Действия с дробями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4406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корень проблемы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МАСШТАБ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ПРОБЛЕМА МАССОВАЯ, А ТЕСТ ЛЕЧИТ СИМПТОМ</a:t>
            </a:r>
          </a:p>
        </p:txBody>
      </p:sp>
      <p:sp>
        <p:nvSpPr>
          <p:cNvPr id="12" name="Hexagon 11"/>
          <p:cNvSpPr/>
          <p:nvPr/>
        </p:nvSpPr>
        <p:spPr>
          <a:xfrm>
            <a:off x="548640" y="2331720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377439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школьников Казахстана
достигли мин. уровня
по математике (ОЭСР — 69%)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81527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PISA 2022</a:t>
            </a:r>
          </a:p>
        </p:txBody>
      </p:sp>
      <p:sp>
        <p:nvSpPr>
          <p:cNvPr id="15" name="Hexagon 14"/>
          <p:cNvSpPr/>
          <p:nvPr/>
        </p:nvSpPr>
        <p:spPr>
          <a:xfrm>
            <a:off x="548640" y="3520439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216 тыс.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566159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абитуриентов ЕНТ
в 2025 году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7024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НЦТ / Вечерняя Астана</a:t>
            </a:r>
          </a:p>
        </p:txBody>
      </p:sp>
      <p:sp>
        <p:nvSpPr>
          <p:cNvPr id="18" name="Hexagon 17"/>
          <p:cNvSpPr/>
          <p:nvPr/>
        </p:nvSpPr>
        <p:spPr>
          <a:xfrm>
            <a:off x="548640" y="4709160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64/140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75488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средний балл ЕНТ-2025
по пяти предметам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545896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Вечерняя Астана, 02.06.2025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2286000"/>
            <a:ext cx="55321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6217920" y="248716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4688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Математика кумулятивна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81635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Пробел в базовой теме всплывает позже — в теме, которая на ней держится.</a:t>
            </a:r>
          </a:p>
        </p:txBody>
      </p:sp>
      <p:sp>
        <p:nvSpPr>
          <p:cNvPr id="25" name="Hexagon 24"/>
          <p:cNvSpPr/>
          <p:nvPr/>
        </p:nvSpPr>
        <p:spPr>
          <a:xfrm>
            <a:off x="6217920" y="358444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5661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Тест измеряет балл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391363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Пробник говорит, где ошибка произошла, но не почему. Выбранный неверный вариант не анализируется.</a:t>
            </a:r>
          </a:p>
        </p:txBody>
      </p:sp>
      <p:sp>
        <p:nvSpPr>
          <p:cNvPr id="28" name="Hexagon 27"/>
          <p:cNvSpPr/>
          <p:nvPr/>
        </p:nvSpPr>
        <p:spPr>
          <a:xfrm>
            <a:off x="6217920" y="468172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6634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У учителя нет времени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01091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25–30 учеников в классе: проверить каждого по всем темам 5–9 классов невозможно.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0473E"/>
                </a:solidFill>
                <a:latin typeface="Arial Black"/>
              </a:rPr>
              <a:t>Место для вашей цифры из опроса: </a:t>
            </a:r>
            <a:r>
              <a:rPr sz="1100" b="0" i="0">
                <a:solidFill>
                  <a:srgbClr val="4A4F57"/>
                </a:solidFill>
                <a:latin typeface="Arial Black"/>
              </a:rPr>
              <a:t>«__% учеников не понимают, почему ошиблись в пробнике» (n = __). Заполните по docs/validation-plan.md или удалите строку.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-2743200" y="4920752"/>
            <a:ext cx="3840480" cy="332585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НАЙТИ КОРЕНЬ → ПОКАЗАТЬ → ПОЧИНИТЬ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82296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Адаптивная диагностика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Начинаем со сложной темы и спускаемся по графу из 17 тем только там, где есть ошибки. Без пробелов — около 10 вопросов.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2761488"/>
            <a:ext cx="1783079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361187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Карта знаний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Корневой пробел, цепочки «ошибка в X → корень в Y» и ошибки мышления по выбранным неверным ответам.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6092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Hexagon 21"/>
          <p:cNvSpPr/>
          <p:nvPr/>
        </p:nvSpPr>
        <p:spPr>
          <a:xfrm>
            <a:off x="640080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План снизу вверх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Правило, пример, разбор своей ошибки и 2 новые проверочные задачи. Следующая тема — после корня.</a:t>
            </a:r>
          </a:p>
        </p:txBody>
      </p:sp>
      <p:sp>
        <p:nvSpPr>
          <p:cNvPr id="25" name="Hexagon 24"/>
          <p:cNvSpPr/>
          <p:nvPr/>
        </p:nvSpPr>
        <p:spPr>
          <a:xfrm>
            <a:off x="918971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1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11111"/>
                </a:solidFill>
                <a:latin typeface="Arial Black"/>
              </a:rPr>
              <a:t>Панель учителя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Корни всего класса, частые ошибки, готовые мини-группы, тепловая карта и CSV.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Работает в браузере на любом телефоне — без установки, регистрации и сервера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АЛГОРИТМ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КАК TAMYR ИЩЕТ КОРЕНЬ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34874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31820" y="2898648"/>
            <a:ext cx="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13182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217420" y="3995928"/>
            <a:ext cx="91440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1820" y="3995928"/>
            <a:ext cx="91440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046220" y="5093208"/>
            <a:ext cx="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2331720" y="233172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111111"/>
                </a:solidFill>
                <a:latin typeface="Arial Black"/>
              </a:rPr>
              <a:t>Кв. 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54864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Разложение</a:t>
            </a:r>
          </a:p>
        </p:txBody>
      </p:sp>
      <p:sp>
        <p:nvSpPr>
          <p:cNvPr id="20" name="Hexagon 19"/>
          <p:cNvSpPr/>
          <p:nvPr/>
        </p:nvSpPr>
        <p:spPr>
          <a:xfrm>
            <a:off x="233172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111111"/>
                </a:solidFill>
                <a:latin typeface="Arial Black"/>
              </a:rPr>
              <a:t>Лин. уравнения</a:t>
            </a:r>
          </a:p>
        </p:txBody>
      </p:sp>
      <p:sp>
        <p:nvSpPr>
          <p:cNvPr id="21" name="Hexagon 20"/>
          <p:cNvSpPr/>
          <p:nvPr/>
        </p:nvSpPr>
        <p:spPr>
          <a:xfrm>
            <a:off x="411480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Корни</a:t>
            </a:r>
          </a:p>
        </p:txBody>
      </p:sp>
      <p:sp>
        <p:nvSpPr>
          <p:cNvPr id="22" name="Hexagon 21"/>
          <p:cNvSpPr/>
          <p:nvPr/>
        </p:nvSpPr>
        <p:spPr>
          <a:xfrm>
            <a:off x="14173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Выражения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32461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Дроби</a:t>
            </a:r>
          </a:p>
        </p:txBody>
      </p:sp>
      <p:sp>
        <p:nvSpPr>
          <p:cNvPr id="24" name="Hexagon 23"/>
          <p:cNvSpPr/>
          <p:nvPr/>
        </p:nvSpPr>
        <p:spPr>
          <a:xfrm>
            <a:off x="3246120" y="562356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B9CFEE"/>
          </a:solidFill>
          <a:ln w="25400">
            <a:solidFill>
              <a:srgbClr val="B9CF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082F66"/>
                </a:solidFill>
                <a:latin typeface="Arial Black"/>
              </a:rPr>
              <a:t>Арифметика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7A808A"/>
                </a:solidFill>
                <a:latin typeface="Arial Black"/>
              </a:rPr>
              <a:t>Синий — освоено, красный — пробел, насыщенный красный — корень</a:t>
            </a:r>
          </a:p>
        </p:txBody>
      </p:sp>
      <p:sp>
        <p:nvSpPr>
          <p:cNvPr id="26" name="Hexagon 25"/>
          <p:cNvSpPr/>
          <p:nvPr/>
        </p:nvSpPr>
        <p:spPr>
          <a:xfrm>
            <a:off x="6309360" y="2423160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Решил тему без ошибок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7249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всё, на чём она держится, засчитано без вопросов</a:t>
            </a:r>
          </a:p>
        </p:txBody>
      </p:sp>
      <p:sp>
        <p:nvSpPr>
          <p:cNvPr id="29" name="Hexagon 28"/>
          <p:cNvSpPr/>
          <p:nvPr/>
        </p:nvSpPr>
        <p:spPr>
          <a:xfrm>
            <a:off x="6309360" y="3227832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1821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Ошибся дважды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295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спускаемся к непроверенным пререквизитам</a:t>
            </a:r>
          </a:p>
        </p:txBody>
      </p:sp>
      <p:sp>
        <p:nvSpPr>
          <p:cNvPr id="32" name="Hexagon 31"/>
          <p:cNvSpPr/>
          <p:nvPr/>
        </p:nvSpPr>
        <p:spPr>
          <a:xfrm>
            <a:off x="6309360" y="4032504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867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Неверный вариант с меткой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3342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сначала проверяем «домашнюю» тему этой ошибки</a:t>
            </a:r>
          </a:p>
        </p:txBody>
      </p:sp>
      <p:sp>
        <p:nvSpPr>
          <p:cNvPr id="35" name="Hexagon 34"/>
          <p:cNvSpPr/>
          <p:nvPr/>
        </p:nvSpPr>
        <p:spPr>
          <a:xfrm>
            <a:off x="6309360" y="4837176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47914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Корень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13892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= пробел, под которым пробелов нет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5669280"/>
            <a:ext cx="530352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574243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0473E"/>
                </a:solidFill>
                <a:latin typeface="Arial Black"/>
              </a:rPr>
              <a:t>1/2 + 1/3 = 2/5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  →  «складывает числители и знаменатели»</a:t>
            </a:r>
          </a:p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Такой ответ сразу отправляет проверку в тему «Дроби».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274319" y="61831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ДЕМО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КАРТА ЗНАНИЙ УЧЕНИКА</a:t>
            </a:r>
          </a:p>
        </p:txBody>
      </p:sp>
      <p:pic>
        <p:nvPicPr>
          <p:cNvPr id="13" name="Picture 12" descr="demo.png"/>
          <p:cNvPicPr>
            <a:picLocks noChangeAspect="1"/>
          </p:cNvPicPr>
          <p:nvPr/>
        </p:nvPicPr>
        <p:blipFill>
          <a:blip r:embed="rId2"/>
          <a:srcRect b="20000"/>
          <a:stretch>
            <a:fillRect/>
          </a:stretch>
        </p:blipFill>
        <p:spPr>
          <a:xfrm>
            <a:off x="640080" y="2331720"/>
            <a:ext cx="6675120" cy="370840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7818120" y="234086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14 вопросов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33472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по теме «Квадратные уравнения» и всем её основам</a:t>
            </a:r>
          </a:p>
        </p:txBody>
      </p:sp>
      <p:sp>
        <p:nvSpPr>
          <p:cNvPr id="17" name="Hexagon 16"/>
          <p:cNvSpPr/>
          <p:nvPr/>
        </p:nvSpPr>
        <p:spPr>
          <a:xfrm>
            <a:off x="7818120" y="3236976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18211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Корень — «Дроби»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29584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хотя ошибки видны в квадратных и линейных уравнениях</a:t>
            </a:r>
          </a:p>
        </p:txBody>
      </p:sp>
      <p:sp>
        <p:nvSpPr>
          <p:cNvPr id="20" name="Hexagon 19"/>
          <p:cNvSpPr/>
          <p:nvPr/>
        </p:nvSpPr>
        <p:spPr>
          <a:xfrm>
            <a:off x="7818120" y="4133087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07822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Ошибки мышления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425696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по выбранным вариантам, с правилом исправления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7818120" y="5029199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9743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План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321807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«Разобрать» → урок → 2 новые задачи → следующая тема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5989320"/>
            <a:ext cx="2834640" cy="41148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Открыть: index.html#demo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4480559" y="70975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УЧИТЕЛЮ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КОРНИ ВСЕГО КЛАССА</a:t>
            </a:r>
          </a:p>
        </p:txBody>
      </p:sp>
      <p:pic>
        <p:nvPicPr>
          <p:cNvPr id="13" name="Picture 12" descr="teacher.png"/>
          <p:cNvPicPr>
            <a:picLocks noChangeAspect="1"/>
          </p:cNvPicPr>
          <p:nvPr/>
        </p:nvPicPr>
        <p:blipFill>
          <a:blip r:embed="rId2"/>
          <a:srcRect b="12000"/>
          <a:stretch>
            <a:fillRect/>
          </a:stretch>
        </p:blipFill>
        <p:spPr>
          <a:xfrm>
            <a:off x="4892040" y="1234440"/>
            <a:ext cx="6675120" cy="407924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640080" y="270662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Корневые пробелы класса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99923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какие базовые темы тянут класс вниз</a:t>
            </a:r>
          </a:p>
        </p:txBody>
      </p:sp>
      <p:sp>
        <p:nvSpPr>
          <p:cNvPr id="17" name="Hexagon 16"/>
          <p:cNvSpPr/>
          <p:nvPr/>
        </p:nvSpPr>
        <p:spPr>
          <a:xfrm>
            <a:off x="640080" y="352958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474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Мини-группы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822191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кого с кем посадить на 15-минутный разбор</a:t>
            </a:r>
          </a:p>
        </p:txBody>
      </p:sp>
      <p:sp>
        <p:nvSpPr>
          <p:cNvPr id="20" name="Hexagon 19"/>
          <p:cNvSpPr/>
          <p:nvPr/>
        </p:nvSpPr>
        <p:spPr>
          <a:xfrm>
            <a:off x="640080" y="435254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976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Тепловая карта и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4515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ученик × тема, выгрузка в Excel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" y="5175503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1206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Без сервера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6811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ученик передаёт результат кодом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635508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F57"/>
                </a:solidFill>
                <a:latin typeface="Arial Black"/>
              </a:rPr>
              <a:t>Демо-класс: 24 виртуальных ученика (симуляция, не реальные данные).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КОНКУРЕНТЫ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ИДЕЯ НЕ НОВАЯ — НОВОЕ В СВЯЗКЕ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2402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ЧТО ДЕЛАЕТ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2402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B4DA2"/>
                </a:solidFill>
                <a:latin typeface="Arial Black"/>
              </a:rPr>
              <a:t>ЧЕМ ОТЛИЧАЕТСЯ TAMYR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60320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22960" y="2779776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6517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ALEKS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62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McGraw 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15184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Адаптивная оценка по «пространству знаний». Платная, программы США.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2560320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2615184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Программа и формат ЕНТ, бесплатно для ученика, офлайн без регистрации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64991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822960" y="3584448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345643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Eedi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7673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Великобритания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419856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Диагностические вопросы: неверный вариант указывает на ошибку мышления.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3364991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Метка ошибки сразу ведёт в её домашнюю тему и дальше вниз, к корню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169663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822960" y="4389120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4261103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Khan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США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224527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Бесплатные курсы и система освоения по темам.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4169663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4224527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Не курс, а 10–20 минут диагностики: с чего начать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74336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822960" y="5193792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5065775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Пробники ЕНТ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37667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Казахстан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5029199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Балл и разбор по темам, где произошла ошибка.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4974336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5029199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Причина, а не балл; учителю — корни класса и группы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Неверный вариант → домашняя тема ошибки → проверка корня  ·  под ЕНТ, офлайн, с панелью учителя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ЧТО УЖЕ ПРОВЕРЕНО</a:t>
            </a:r>
          </a:p>
        </p:txBody>
      </p:sp>
      <p:sp>
        <p:nvSpPr>
          <p:cNvPr id="12" name="Hexagon 11"/>
          <p:cNvSpPr/>
          <p:nvPr/>
        </p:nvSpPr>
        <p:spPr>
          <a:xfrm>
            <a:off x="77724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настоящих корней найдено
(полнота)</a:t>
            </a:r>
          </a:p>
        </p:txBody>
      </p:sp>
      <p:sp>
        <p:nvSpPr>
          <p:cNvPr id="14" name="Hexagon 13"/>
          <p:cNvSpPr/>
          <p:nvPr/>
        </p:nvSpPr>
        <p:spPr>
          <a:xfrm>
            <a:off x="356616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найденных корней верны
(точность)</a:t>
            </a:r>
          </a:p>
        </p:txBody>
      </p:sp>
      <p:sp>
        <p:nvSpPr>
          <p:cNvPr id="16" name="Hexagon 15"/>
          <p:cNvSpPr/>
          <p:nvPr/>
        </p:nvSpPr>
        <p:spPr>
          <a:xfrm>
            <a:off x="635507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7/18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1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тем спецификации ЕНТ
покрыто (алгебра)</a:t>
            </a:r>
          </a:p>
        </p:txBody>
      </p:sp>
      <p:sp>
        <p:nvSpPr>
          <p:cNvPr id="18" name="Hexagon 17"/>
          <p:cNvSpPr/>
          <p:nvPr/>
        </p:nvSpPr>
        <p:spPr>
          <a:xfrm>
            <a:off x="914399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20/20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3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юнит-тестов
проходят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8A"/>
                </a:solidFill>
                <a:latin typeface="Arial Black"/>
              </a:rPr>
              <a:t>Полнота и точность — контрольная симуляция: 1000 новых виртуальных учеников, не использованных при доработке (было 79% и 72% до правила «перевес в 2»). Модель ученика наша, поэтому это оценка сверху. Покрытие — сверка 17 тем с официальной спецификацией НЦТ (с 2026 г.).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577840"/>
            <a:ext cx="10881360" cy="777240"/>
          </a:xfrm>
          <a:prstGeom prst="rect">
            <a:avLst/>
          </a:prstGeom>
          <a:solidFill>
            <a:srgbClr val="EAF1FB"/>
          </a:solidFill>
          <a:ln w="19050">
            <a:solidFill>
              <a:srgbClr val="0B4DA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50992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Проверка на людях — заполните реальными данными: 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опрос учеников (n = __), интервью с учителями (__ чел.), мини-пилот: совпадение корня с мнением учителя __ из __. Шаблоны: docs/validation-plan.md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РЫНОК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КОМУ, СКОЛЬКО СТОИТ, КАК ЗАПУСТИТЬ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1440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280160" y="2551176"/>
            <a:ext cx="0" cy="13990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62019" y="2691079"/>
            <a:ext cx="118141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0160" y="2691079"/>
            <a:ext cx="11814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80160" y="2691079"/>
            <a:ext cx="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1186891" y="2551176"/>
            <a:ext cx="93269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80160" y="2551176"/>
            <a:ext cx="93268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Аудитория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216 тыс. абитуриентов ЕНТ-2025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≈184 тыс. сдают обязательную мат. грамотность (наша оценка: без творческих специальностей)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72% сдают ЕНТ на казахском → казахская версия — шаг №1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466344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Затраты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Хостинг: 0 ₸ (GitHub Pages)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Нет серверов и персональных данных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Основное: время учителей на проверку заданий и перевод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841248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Деньги (гипотезы)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Ученик: диагностика бесплатно, платные банки тем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Учебные центры: входная диагностика и панель по подписке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Школы: бесплатно для учителя ради охвата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09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Источники: НЦТ (формат ЕНТ); Вечерняя Астана, 02.06.2025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14300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ДАЛЬШЕ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892807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ОТ ПРОТОТИПА К КЛАССУ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3520440"/>
            <a:ext cx="8412480" cy="0"/>
          </a:xfrm>
          <a:prstGeom prst="line">
            <a:avLst/>
          </a:prstGeom>
          <a:ln w="38100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3152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Сейчас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MVP: 17 тем, 102 задания, 43 ошибки мышления, панель учителя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56616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1 месяц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Казахская версия, пилот в 2–3 классах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3 месяца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Проверка заданий учителями, 10+ вопросов на тему</a:t>
            </a:r>
          </a:p>
        </p:txBody>
      </p:sp>
      <p:sp>
        <p:nvSpPr>
          <p:cNvPr id="26" name="Hexagon 25"/>
          <p:cNvSpPr/>
          <p:nvPr/>
        </p:nvSpPr>
        <p:spPr>
          <a:xfrm>
            <a:off x="923544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6 месяцев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Тригонометрия, логарифмы, геометрия по спецификации 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Команда: Bolatbay Yersultan · Zharkynuly Eren · Kydyrkhan Olzhas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GitHub: github.com/sas1k00/hackathonchik   ·   Демо: sas1k00.github.io/hackathonchik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5715000"/>
            <a:ext cx="228600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