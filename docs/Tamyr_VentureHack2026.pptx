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причины. Если провели опрос, назовите реальную цифру; если нет, удалите нижнюю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честно: это симуляция. Затем назовите то, что проверили на людях. Если ничего не успели, скажите, что пилот запланирован, и удалите пустые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325880" y="182879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54679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86200" y="4114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86200" y="13258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486400"/>
            <a:ext cx="4480560" cy="685800"/>
          </a:xfrm>
          <a:prstGeom prst="ellipse">
            <a:avLst/>
          </a:prstGeom>
          <a:solidFill>
            <a:srgbClr val="082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422392"/>
            <a:ext cx="4206240" cy="548640"/>
          </a:xfrm>
          <a:prstGeom prst="ellipse">
            <a:avLst/>
          </a:prstGeom>
          <a:solidFill>
            <a:srgbClr val="1A1F2A"/>
          </a:solidFill>
          <a:ln w="31750">
            <a:solidFill>
              <a:srgbClr val="5B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1897380" y="162466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Кв.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6972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Лин.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уравнения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0975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Корни</a:t>
            </a:r>
          </a:p>
        </p:txBody>
      </p:sp>
      <p:sp>
        <p:nvSpPr>
          <p:cNvPr id="21" name="Hexagon 20"/>
          <p:cNvSpPr/>
          <p:nvPr/>
        </p:nvSpPr>
        <p:spPr>
          <a:xfrm>
            <a:off x="1897380" y="3010433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Дроби</a:t>
            </a:r>
          </a:p>
        </p:txBody>
      </p:sp>
      <p:sp>
        <p:nvSpPr>
          <p:cNvPr id="22" name="Hexagon 21"/>
          <p:cNvSpPr/>
          <p:nvPr/>
        </p:nvSpPr>
        <p:spPr>
          <a:xfrm>
            <a:off x="6972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082F66"/>
                </a:solidFill>
                <a:latin typeface="Calibri"/>
              </a:rPr>
              <a:t>Проценты</a:t>
            </a:r>
          </a:p>
        </p:txBody>
      </p:sp>
      <p:sp>
        <p:nvSpPr>
          <p:cNvPr id="23" name="Hexagon 22"/>
          <p:cNvSpPr/>
          <p:nvPr/>
        </p:nvSpPr>
        <p:spPr>
          <a:xfrm>
            <a:off x="30975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Степени</a:t>
            </a:r>
          </a:p>
        </p:txBody>
      </p:sp>
      <p:sp>
        <p:nvSpPr>
          <p:cNvPr id="24" name="Hexagon 23"/>
          <p:cNvSpPr/>
          <p:nvPr/>
        </p:nvSpPr>
        <p:spPr>
          <a:xfrm>
            <a:off x="1897380" y="439620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082F66"/>
                </a:solidFill>
                <a:latin typeface="Calibri"/>
              </a:rPr>
              <a:t>Арифметика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0552" y="3941063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1">
                <a:solidFill>
                  <a:srgbClr val="E0473E"/>
                </a:solidFill>
                <a:latin typeface="Calibri"/>
              </a:rPr>
              <a:t>КОРЕНЬ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6355080"/>
            <a:ext cx="5486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8680" y="6126480"/>
            <a:ext cx="274320" cy="22860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43000" y="6126480"/>
            <a:ext cx="64008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78892" y="63139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41932" y="60853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989320"/>
            <a:ext cx="73152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95360" y="5715000"/>
            <a:ext cx="274320" cy="27432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69680" y="5715000"/>
            <a:ext cx="10058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822692" y="594817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4372" y="567385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66959" y="521208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15600" y="5486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01400" y="5577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585216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7159" y="530352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7889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111"/>
                </a:solidFill>
                <a:latin typeface="Arial Black"/>
              </a:rPr>
              <a:t>НАХОДИМ КОРЕНЬ ОШИБКИ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4DA2"/>
                </a:solidFill>
                <a:latin typeface="Calibri"/>
              </a:rPr>
              <a:t>Адаптивная диагностика по математике для ЕНТ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97763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4F57"/>
                </a:solidFill>
                <a:latin typeface="Calibri"/>
              </a:rPr>
              <a:t>За один тест показывает базовую тему, из-за которой «сыпятся» все следующие. Тамыр (каз.) — корень.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983480"/>
            <a:ext cx="26517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Трек 2 · EduTech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7A808A"/>
                </a:solidFill>
                <a:latin typeface="Calibri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6309359" y="681959"/>
            <a:ext cx="6766560" cy="5859840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5852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УЧЕНИК ПОВТОРЯЕТ
НЕ ТУ ТЕМУ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0B4DA2"/>
                </a:solidFill>
                <a:latin typeface="Calibri"/>
              </a:rPr>
              <a:t>Пример: </a:t>
            </a:r>
            <a:r>
              <a:rPr sz="1700" b="1" i="0">
                <a:solidFill>
                  <a:srgbClr val="4A4F57"/>
                </a:solidFill>
                <a:latin typeface="Calibri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4F57"/>
                </a:solidFill>
                <a:latin typeface="Calibri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4F57"/>
                </a:solidFill>
                <a:latin typeface="Calibri"/>
              </a:rPr>
              <a:t>Настоящая причина лежит на три темы ниже: </a:t>
            </a:r>
            <a:r>
              <a:rPr sz="1700" b="1" i="0">
                <a:solidFill>
                  <a:srgbClr val="E0473E"/>
                </a:solidFill>
                <a:latin typeface="Calibri"/>
              </a:rPr>
              <a:t>она неверно складывает дроби</a:t>
            </a:r>
            <a:r>
              <a:rPr sz="1700" b="0" i="0">
                <a:solidFill>
                  <a:srgbClr val="4A4F57"/>
                </a:solidFill>
                <a:latin typeface="Calibri"/>
              </a:rPr>
              <a:t> — это материал 6 класса.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0B4DA2"/>
                </a:solidFill>
                <a:latin typeface="Calibri"/>
              </a:rPr>
              <a:t>Тест показывает симптом, но не диагноз.</a:t>
            </a:r>
          </a:p>
        </p:txBody>
      </p:sp>
      <p:sp>
        <p:nvSpPr>
          <p:cNvPr id="14" name="Hexagon 13"/>
          <p:cNvSpPr/>
          <p:nvPr/>
        </p:nvSpPr>
        <p:spPr>
          <a:xfrm>
            <a:off x="7498079" y="160020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900" b="1">
                <a:solidFill>
                  <a:srgbClr val="0B4DA2"/>
                </a:solidFill>
                <a:latin typeface="Calibri"/>
              </a:rPr>
              <a:t>Квадратные уравнения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5146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4A4F57"/>
                </a:solidFill>
                <a:latin typeface="Calibri"/>
              </a:rPr>
              <a:t>ошибка видна здесь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278892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498079" y="306324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900" b="1">
                <a:solidFill>
                  <a:srgbClr val="0B4DA2"/>
                </a:solidFill>
                <a:latin typeface="Calibri"/>
              </a:rPr>
              <a:t>Линейные уравнения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4A4F57"/>
                </a:solidFill>
                <a:latin typeface="Calibri"/>
              </a:rPr>
              <a:t>ошибка тянется отсюда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425196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Hexagon 19"/>
          <p:cNvSpPr/>
          <p:nvPr/>
        </p:nvSpPr>
        <p:spPr>
          <a:xfrm>
            <a:off x="7498079" y="452628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3175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Действия с дробями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440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4A4F57"/>
                </a:solidFill>
                <a:latin typeface="Calibri"/>
              </a:rPr>
              <a:t>корень проблемы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7A808A"/>
                </a:solidFill>
                <a:latin typeface="Calibri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ПРИЧИНЫ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ПОЧЕМУ ЭТО ПРОИСХОДИТ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Математика кумулятивна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Каждая тема держится на предыдущих. Пробел в базовой теме всплывает позже — в теме, которая на ней держится.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2743200"/>
            <a:ext cx="3474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4663440" y="239572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429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Тесты измеряют балл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114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Пробники и контрольные говорят,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743200"/>
            <a:ext cx="347472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8412480" y="239572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429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У учителя нет времени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В классе 25–30 учеников. Индивидуально проверить каждого по всем темам с 5 по 9 класс невозможно.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0473E"/>
                </a:solidFill>
                <a:latin typeface="Calibri"/>
              </a:rPr>
              <a:t>Место для вашей цифры из опроса: </a:t>
            </a:r>
            <a:r>
              <a:rPr sz="1300" b="0" i="0">
                <a:solidFill>
                  <a:srgbClr val="4A4F57"/>
                </a:solidFill>
                <a:latin typeface="Calibri"/>
              </a:rPr>
              <a:t>«__% учеников не понимают, почему ошиблись в пробнике» (n = __). Заполните по docs/validation-plan.md или удалите строку.</a:t>
            </a:r>
          </a:p>
        </p:txBody>
      </p:sp>
      <p:sp>
        <p:nvSpPr>
          <p:cNvPr id="25" name="Oval 24"/>
          <p:cNvSpPr/>
          <p:nvPr/>
        </p:nvSpPr>
        <p:spPr>
          <a:xfrm>
            <a:off x="11091672" y="1719072"/>
            <a:ext cx="128016" cy="12801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21440" y="2057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44200" y="2148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-2743200" y="4920752"/>
            <a:ext cx="3840480" cy="332585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НАЙТИ КОРЕНЬ → ПОКАЗАТЬ → ПОЧИНИТЬ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82296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Адаптивная диагностика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Начинаем со сложной темы и спускаемся по графу из 17 тем только там, где есть ошибки. Без пробелов — около 9 вопросов.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761488"/>
            <a:ext cx="1783079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361187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Карта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6092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Hexagon 21"/>
          <p:cNvSpPr/>
          <p:nvPr/>
        </p:nvSpPr>
        <p:spPr>
          <a:xfrm>
            <a:off x="640080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План снизу вверх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Правило, пример, разбор своей ошибки и 2 новые проверочные задачи. Следующая тема — после корня.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918971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 Black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11111"/>
                </a:solidFill>
                <a:latin typeface="Calibri"/>
              </a:rPr>
              <a:t>Панель учителя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4F57"/>
                </a:solidFill>
                <a:latin typeface="Calibri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Работает в браузере на любом телефоне — без установки, регистрации и сервера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7A808A"/>
                </a:solidFill>
                <a:latin typeface="Calibri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АЛГОРИТМ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КАК TAMYR ИЩЕТ КОРЕНЬ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34874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31820" y="2898648"/>
            <a:ext cx="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3182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217420" y="3995928"/>
            <a:ext cx="91440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1820" y="3995928"/>
            <a:ext cx="91440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46220" y="5093208"/>
            <a:ext cx="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2331720" y="233172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Кв. 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54864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Разложение</a:t>
            </a:r>
          </a:p>
        </p:txBody>
      </p:sp>
      <p:sp>
        <p:nvSpPr>
          <p:cNvPr id="20" name="Hexagon 19"/>
          <p:cNvSpPr/>
          <p:nvPr/>
        </p:nvSpPr>
        <p:spPr>
          <a:xfrm>
            <a:off x="233172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111111"/>
                </a:solidFill>
                <a:latin typeface="Calibri"/>
              </a:rPr>
              <a:t>Лин. уравнения</a:t>
            </a:r>
          </a:p>
        </p:txBody>
      </p:sp>
      <p:sp>
        <p:nvSpPr>
          <p:cNvPr id="21" name="Hexagon 20"/>
          <p:cNvSpPr/>
          <p:nvPr/>
        </p:nvSpPr>
        <p:spPr>
          <a:xfrm>
            <a:off x="411480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Корни</a:t>
            </a:r>
          </a:p>
        </p:txBody>
      </p:sp>
      <p:sp>
        <p:nvSpPr>
          <p:cNvPr id="22" name="Hexagon 21"/>
          <p:cNvSpPr/>
          <p:nvPr/>
        </p:nvSpPr>
        <p:spPr>
          <a:xfrm>
            <a:off x="14173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Выражения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32461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Дроби</a:t>
            </a:r>
          </a:p>
        </p:txBody>
      </p:sp>
      <p:sp>
        <p:nvSpPr>
          <p:cNvPr id="24" name="Hexagon 23"/>
          <p:cNvSpPr/>
          <p:nvPr/>
        </p:nvSpPr>
        <p:spPr>
          <a:xfrm>
            <a:off x="3246120" y="562356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B9CFEE"/>
          </a:solidFill>
          <a:ln w="25400">
            <a:solidFill>
              <a:srgbClr val="B9CF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1">
                <a:solidFill>
                  <a:srgbClr val="082F66"/>
                </a:solidFill>
                <a:latin typeface="Calibri"/>
              </a:rPr>
              <a:t>Арифметика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7A808A"/>
                </a:solidFill>
                <a:latin typeface="Calibri"/>
              </a:rPr>
              <a:t>Синий — освоено, красный — пробел, насыщенный красный — корень</a:t>
            </a:r>
          </a:p>
        </p:txBody>
      </p:sp>
      <p:sp>
        <p:nvSpPr>
          <p:cNvPr id="26" name="Hexagon 25"/>
          <p:cNvSpPr/>
          <p:nvPr/>
        </p:nvSpPr>
        <p:spPr>
          <a:xfrm>
            <a:off x="6309360" y="2423160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Решил тему без ошибок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7249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всё, на чём она держится, засчитано без вопросов</a:t>
            </a:r>
          </a:p>
        </p:txBody>
      </p:sp>
      <p:sp>
        <p:nvSpPr>
          <p:cNvPr id="29" name="Hexagon 28"/>
          <p:cNvSpPr/>
          <p:nvPr/>
        </p:nvSpPr>
        <p:spPr>
          <a:xfrm>
            <a:off x="6309360" y="3227832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1821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Ошибся дважды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29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спускаемся к непроверенным пререквизитам</a:t>
            </a:r>
          </a:p>
        </p:txBody>
      </p:sp>
      <p:sp>
        <p:nvSpPr>
          <p:cNvPr id="32" name="Hexagon 31"/>
          <p:cNvSpPr/>
          <p:nvPr/>
        </p:nvSpPr>
        <p:spPr>
          <a:xfrm>
            <a:off x="6309360" y="4032504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867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Неверный вариант с меткой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3342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сначала проверяем «домашнюю» тему этой ошибки</a:t>
            </a:r>
          </a:p>
        </p:txBody>
      </p:sp>
      <p:sp>
        <p:nvSpPr>
          <p:cNvPr id="35" name="Hexagon 34"/>
          <p:cNvSpPr/>
          <p:nvPr/>
        </p:nvSpPr>
        <p:spPr>
          <a:xfrm>
            <a:off x="6309360" y="4837176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47914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Корень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1389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= пробел, под которым пробелов 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5669280"/>
            <a:ext cx="530352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57424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0473E"/>
                </a:solidFill>
                <a:latin typeface="Calibri"/>
              </a:rPr>
              <a:t>1/2 + 1/3 = 2/5</a:t>
            </a:r>
            <a:r>
              <a:rPr sz="1300" b="1" i="0">
                <a:solidFill>
                  <a:srgbClr val="111111"/>
                </a:solidFill>
                <a:latin typeface="Calibri"/>
              </a:rPr>
              <a:t>  →  «складывает числители и знаменатели»</a:t>
            </a:r>
          </a:p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Такой ответ сразу отправляет проверку в тему «Дроби».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274319" y="61831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КАРТА ЗНАНИЙ УЧЕНИКА</a:t>
            </a:r>
          </a:p>
        </p:txBody>
      </p:sp>
      <p:pic>
        <p:nvPicPr>
          <p:cNvPr id="13" name="Picture 12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2331720"/>
            <a:ext cx="6675120" cy="370840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7818120" y="234086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14 вопросов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3347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по теме «Квадратные уравнения» и всем её основам</a:t>
            </a:r>
          </a:p>
        </p:txBody>
      </p:sp>
      <p:sp>
        <p:nvSpPr>
          <p:cNvPr id="17" name="Hexagon 16"/>
          <p:cNvSpPr/>
          <p:nvPr/>
        </p:nvSpPr>
        <p:spPr>
          <a:xfrm>
            <a:off x="7818120" y="3236976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182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Корень — «Дроби»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29584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хотя ошибки видны в квадратных и линейных уравнениях</a:t>
            </a:r>
          </a:p>
        </p:txBody>
      </p:sp>
      <p:sp>
        <p:nvSpPr>
          <p:cNvPr id="20" name="Hexagon 19"/>
          <p:cNvSpPr/>
          <p:nvPr/>
        </p:nvSpPr>
        <p:spPr>
          <a:xfrm>
            <a:off x="7818120" y="4133087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Ошибки мышления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25696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по выбранным вариантам, с правилом исправления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7818120" y="5029199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9743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План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21807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«Разобрать» → урок → 2 новые задачи → следующая тема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989320"/>
            <a:ext cx="2834640" cy="41148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Открыть: index.html#demo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480559" y="70975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УЧИТЕЛЮ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КОРНИ ВСЕГО КЛАССА</a:t>
            </a:r>
          </a:p>
        </p:txBody>
      </p:sp>
      <p:pic>
        <p:nvPicPr>
          <p:cNvPr id="13" name="Picture 12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892040" y="1234440"/>
            <a:ext cx="6675120" cy="407924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640080" y="270662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Корневые пробелы класса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какие базовые темы тянут класс вниз</a:t>
            </a:r>
          </a:p>
        </p:txBody>
      </p:sp>
      <p:sp>
        <p:nvSpPr>
          <p:cNvPr id="17" name="Hexagon 16"/>
          <p:cNvSpPr/>
          <p:nvPr/>
        </p:nvSpPr>
        <p:spPr>
          <a:xfrm>
            <a:off x="640080" y="352958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74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Мини-группы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221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кого с кем посадить на 15-минутный разбор</a:t>
            </a:r>
          </a:p>
        </p:txBody>
      </p:sp>
      <p:sp>
        <p:nvSpPr>
          <p:cNvPr id="20" name="Hexagon 19"/>
          <p:cNvSpPr/>
          <p:nvPr/>
        </p:nvSpPr>
        <p:spPr>
          <a:xfrm>
            <a:off x="640080" y="435254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Тепловая карта и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451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ученик × тема, выгрузка в Excel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" y="5175503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ученик передаёт результат кодом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635508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F57"/>
                </a:solidFill>
                <a:latin typeface="Calibri"/>
              </a:rPr>
              <a:t>Демо-класс: 24 виртуальных ученика, прогнанных через тот же движок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КОНКУРЕНТЫ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ИДЕЯ НЕ НОВАЯ — НОВОЕ В СВЯЗКЕ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402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808A"/>
                </a:solidFill>
                <a:latin typeface="Calibri"/>
              </a:rPr>
              <a:t>ЧТО ДЕЛАЕТ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402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B4DA2"/>
                </a:solidFill>
                <a:latin typeface="Calibri"/>
              </a:rPr>
              <a:t>ЧЕМ ОТЛИЧАЕТСЯ TAMYR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22960" y="2779776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6517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Calibri"/>
              </a:rPr>
              <a:t>ALEKS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62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Calibri"/>
              </a:rPr>
              <a:t>McGraw 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2560320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61518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4DA2"/>
                </a:solidFill>
                <a:latin typeface="Calibri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64991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822960" y="3584448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4564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Calibri"/>
              </a:rPr>
              <a:t>Eedi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Calibri"/>
              </a:rPr>
              <a:t>Великобритания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41985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364991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4DA2"/>
                </a:solidFill>
                <a:latin typeface="Calibri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169663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822960" y="4389120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261103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Calibri"/>
              </a:rPr>
              <a:t>Khan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Calibri"/>
              </a:rPr>
              <a:t>США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24527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Бесплатные курсы и система освоения по темам.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4169663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224527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4DA2"/>
                </a:solidFill>
                <a:latin typeface="Calibri"/>
              </a:rPr>
              <a:t>Не курс, а 10–20 минут диагностики: с чего начать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74336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822960" y="5193792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65775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Calibri"/>
              </a:rPr>
              <a:t>Пробники ЕНТ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766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Calibri"/>
              </a:rPr>
              <a:t>Казахстан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29199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Calibri"/>
              </a:rPr>
              <a:t>Балл и разбор по темам, где произошла ошибка.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4974336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5029199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B4DA2"/>
                </a:solidFill>
                <a:latin typeface="Calibri"/>
              </a:rPr>
              <a:t>Причина, а не балл; учителю — корни класса и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Неверный вариант → домашняя тема ошибки → проверка корня  ·  под ЕНТ, офлайн, с панелью учителя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ЧТО УЖЕ ПРОВЕРЕНО</a:t>
            </a:r>
          </a:p>
        </p:txBody>
      </p:sp>
      <p:sp>
        <p:nvSpPr>
          <p:cNvPr id="12" name="Hexagon 11"/>
          <p:cNvSpPr/>
          <p:nvPr/>
        </p:nvSpPr>
        <p:spPr>
          <a:xfrm>
            <a:off x="77724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1">
                <a:solidFill>
                  <a:srgbClr val="0B4DA2"/>
                </a:solidFill>
                <a:latin typeface="Arial Black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4A4F57"/>
                </a:solidFill>
                <a:latin typeface="Calibri"/>
              </a:rPr>
              <a:t>настоящих корней найдено
(полнота)</a:t>
            </a:r>
          </a:p>
        </p:txBody>
      </p:sp>
      <p:sp>
        <p:nvSpPr>
          <p:cNvPr id="14" name="Hexagon 13"/>
          <p:cNvSpPr/>
          <p:nvPr/>
        </p:nvSpPr>
        <p:spPr>
          <a:xfrm>
            <a:off x="356616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1">
                <a:solidFill>
                  <a:srgbClr val="0B4DA2"/>
                </a:solidFill>
                <a:latin typeface="Arial Black"/>
              </a:rP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4A4F57"/>
                </a:solidFill>
                <a:latin typeface="Calibri"/>
              </a:rPr>
              <a:t>найденных корней верны
(точность)</a:t>
            </a:r>
          </a:p>
        </p:txBody>
      </p:sp>
      <p:sp>
        <p:nvSpPr>
          <p:cNvPr id="16" name="Hexagon 15"/>
          <p:cNvSpPr/>
          <p:nvPr/>
        </p:nvSpPr>
        <p:spPr>
          <a:xfrm>
            <a:off x="635507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1">
                <a:solidFill>
                  <a:srgbClr val="0B4DA2"/>
                </a:solidFill>
                <a:latin typeface="Arial Black"/>
              </a:rPr>
              <a:t>9 / 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4A4F57"/>
                </a:solidFill>
                <a:latin typeface="Calibri"/>
              </a:rPr>
              <a:t>вопросов: без пробелов /
с одним пробелом</a:t>
            </a:r>
          </a:p>
        </p:txBody>
      </p:sp>
      <p:sp>
        <p:nvSpPr>
          <p:cNvPr id="18" name="Hexagon 17"/>
          <p:cNvSpPr/>
          <p:nvPr/>
        </p:nvSpPr>
        <p:spPr>
          <a:xfrm>
            <a:off x="914399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1">
                <a:solidFill>
                  <a:srgbClr val="0B4DA2"/>
                </a:solidFill>
                <a:latin typeface="Arial Black"/>
              </a:rPr>
              <a:t>16/16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4A4F57"/>
                </a:solidFill>
                <a:latin typeface="Calibri"/>
              </a:rPr>
              <a:t>юнит-тестов
проходят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A808A"/>
                </a:solidFill>
                <a:latin typeface="Calibri"/>
              </a:rPr>
              <a:t>Контрольная симуляция: 1000 новых виртуальных учеников с известными пробелами, не использованных при доработке движка. Модель ученика наша, поэтому это оценка сверху; без шума алгоритм находит 100% корней.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77840"/>
            <a:ext cx="10881360" cy="777240"/>
          </a:xfrm>
          <a:prstGeom prst="rect">
            <a:avLst/>
          </a:prstGeom>
          <a:solidFill>
            <a:srgbClr val="EAF1FB"/>
          </a:solidFill>
          <a:ln w="19050">
            <a:solidFill>
              <a:srgbClr val="0B4DA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50992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B4DA2"/>
                </a:solidFill>
                <a:latin typeface="Calibri"/>
              </a:rPr>
              <a:t>Проверка на людях — заполните реальными данными: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опрос учеников (n = __), интервью с учителями (__ чел.), мини-пилот: совпадение корня с мнением учителя __ из __. Шаблоны: docs/validation-plan.md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ВНЕДРЕНИЕ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РЕАЛИЗУЕМО УЖЕ СЕЙЧАС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2551176"/>
            <a:ext cx="0" cy="13990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62019" y="2691079"/>
            <a:ext cx="118141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691079"/>
            <a:ext cx="11814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80160" y="2691079"/>
            <a:ext cx="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186891" y="2551176"/>
            <a:ext cx="93269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80160" y="2551176"/>
            <a:ext cx="93268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Технологии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Работает офлайн на любом телефоне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Граф и банк заданий — данные: новый предмет = новый файл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Персональные данные остаются на устройстве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66344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Кому и за сколько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Ученикам: бесплатная диагностика, платные банки (геометрия, мат. грамотность)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Школам: панель учителя, подписка за класс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Учебным центрам: входная диагностика новых учеников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841248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4DA2"/>
                </a:solidFill>
                <a:latin typeface="Calibri"/>
              </a:rPr>
              <a:t>Для запуска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Проверка графа 2–3 учителями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Банк 10+ вопросов на тему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Казахская версия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4A4F57"/>
                </a:solidFill>
                <a:latin typeface="Calibri"/>
              </a:rPr>
              <a:t>Пилот в 2–3 классах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7A808A"/>
                </a:solidFill>
                <a:latin typeface="Calibri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B4DA2"/>
                </a:solidFill>
                <a:latin typeface="Calibri"/>
              </a:rPr>
              <a:t>Tamyr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1430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ДАЛЬШЕ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92807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ОТ ПРОТОТИПА К КЛАССУ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520440"/>
            <a:ext cx="8412480" cy="0"/>
          </a:xfrm>
          <a:prstGeom prst="line">
            <a:avLst/>
          </a:prstGeom>
          <a:ln w="38100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3152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MVP: 17 тем, 102 задания, 43 ошибки мышления, панель учителя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56616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800" b="1">
                <a:solidFill>
                  <a:srgbClr val="0B4DA2"/>
                </a:solidFill>
                <a:latin typeface="Arial Black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1 месяц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Пилот в 2–3 классах, казахский язык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800" b="1">
                <a:solidFill>
                  <a:srgbClr val="0B4DA2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3 месяца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Байесовская модель освоения, 10+ вопросов на тему</a:t>
            </a:r>
          </a:p>
        </p:txBody>
      </p:sp>
      <p:sp>
        <p:nvSpPr>
          <p:cNvPr id="26" name="Hexagon 25"/>
          <p:cNvSpPr/>
          <p:nvPr/>
        </p:nvSpPr>
        <p:spPr>
          <a:xfrm>
            <a:off x="923544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800" b="1">
                <a:solidFill>
                  <a:srgbClr val="0B4DA2"/>
                </a:solidFill>
                <a:latin typeface="Arial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4DA2"/>
                </a:solidFill>
                <a:latin typeface="Calibri"/>
              </a:rPr>
              <a:t>6 месяцев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Геометрия и мат. грамотность ЕНТ, вход по коду класса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Команда: [Имя — роль] · [Имя — роль] · [Имя — роль]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Calibri"/>
              </a:rPr>
              <a:t>GitHub: [ссылка на репозиторий]   ·   Демо: [ссылка на GitHub Pages]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5715000"/>
            <a:ext cx="228600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