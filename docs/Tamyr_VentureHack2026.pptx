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Tamyr — по-казахски «корень». Мы в треке EduTech. Мы находим не ошибку, а её причину.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Пример проблемы. Ученица повторяет квадратные уравнения, но корень — в дробях 6 класса.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Три причины. Если провели опрос, назовите реальную цифру; если нет, удалите нижнюю строку.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Объясните правила движка. Ключевая особенность: неверный вариант ответа говорит, какая именно это ошибка.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Живое демо: #setup → «Квадратные уравнения» → отвечать как ученик с пробелом в дробях. Запасной вариант: #demo.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Не утверждайте, что идея уникальна: жюри может знать ALEKS и Eedi. Перед защитой проверьте актуальные описания конкурентов на их сайтах.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Говорите честно: это симуляция. Затем назовите то, что проверили на людях. Если ничего не успели, скажите, что пилот запланирован, и удалите пустые поля.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_tun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Oval 2"/>
          <p:cNvSpPr/>
          <p:nvPr/>
        </p:nvSpPr>
        <p:spPr>
          <a:xfrm>
            <a:off x="1325880" y="182879"/>
            <a:ext cx="182880" cy="182880"/>
          </a:xfrm>
          <a:prstGeom prst="ellipse">
            <a:avLst/>
          </a:prstGeom>
          <a:solidFill>
            <a:srgbClr val="0B4D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411480" y="868680"/>
            <a:ext cx="182880" cy="182880"/>
          </a:xfrm>
          <a:prstGeom prst="ellipse">
            <a:avLst/>
          </a:prstGeom>
          <a:solidFill>
            <a:srgbClr val="0B4D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3154679" y="868680"/>
            <a:ext cx="182880" cy="182880"/>
          </a:xfrm>
          <a:prstGeom prst="ellipse">
            <a:avLst/>
          </a:prstGeom>
          <a:solidFill>
            <a:srgbClr val="0B4D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3886200" y="411480"/>
            <a:ext cx="182880" cy="182880"/>
          </a:xfrm>
          <a:prstGeom prst="ellipse">
            <a:avLst/>
          </a:prstGeom>
          <a:solidFill>
            <a:srgbClr val="0B4D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3886200" y="1325880"/>
            <a:ext cx="182880" cy="182880"/>
          </a:xfrm>
          <a:prstGeom prst="ellipse">
            <a:avLst/>
          </a:prstGeom>
          <a:solidFill>
            <a:srgbClr val="0B4D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</a:p>
        </p:txBody>
      </p:sp>
      <p:sp>
        <p:nvSpPr>
          <p:cNvPr id="8" name="Hexagon 7"/>
          <p:cNvSpPr/>
          <p:nvPr/>
        </p:nvSpPr>
        <p:spPr>
          <a:xfrm>
            <a:off x="10317175" y="384048"/>
            <a:ext cx="384048" cy="332585"/>
          </a:xfrm>
          <a:prstGeom prst="hexagon">
            <a:avLst>
              <a:gd name="adj" fmla="val 28868"/>
              <a:gd name="vf" fmla="val 115470"/>
            </a:avLst>
          </a:prstGeom>
          <a:solidFill>
            <a:srgbClr val="0B4D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</a:p>
        </p:txBody>
      </p:sp>
      <p:cxnSp>
        <p:nvCxnSpPr>
          <p:cNvPr id="9" name="Connector 8"/>
          <p:cNvCxnSpPr/>
          <p:nvPr/>
        </p:nvCxnSpPr>
        <p:spPr>
          <a:xfrm>
            <a:off x="10509199" y="438912"/>
            <a:ext cx="0" cy="82295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10439704" y="521207"/>
            <a:ext cx="69495" cy="100585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0509199" y="521207"/>
            <a:ext cx="69494" cy="100585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10509199" y="521207"/>
            <a:ext cx="0" cy="100585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H="1" flipV="1">
            <a:off x="10454335" y="438912"/>
            <a:ext cx="54864" cy="36576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V="1">
            <a:off x="10509199" y="438912"/>
            <a:ext cx="54864" cy="36576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10792663" y="402336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 i="0">
                <a:solidFill>
                  <a:srgbClr val="0B4DA2"/>
                </a:solidFill>
                <a:latin typeface="Arial Black"/>
              </a:rPr>
              <a:t>Tamyr</a:t>
            </a:r>
          </a:p>
        </p:txBody>
      </p:sp>
      <p:sp>
        <p:nvSpPr>
          <p:cNvPr id="16" name="Oval 15"/>
          <p:cNvSpPr/>
          <p:nvPr/>
        </p:nvSpPr>
        <p:spPr>
          <a:xfrm>
            <a:off x="457200" y="5486400"/>
            <a:ext cx="4480560" cy="685800"/>
          </a:xfrm>
          <a:prstGeom prst="ellipse">
            <a:avLst/>
          </a:prstGeom>
          <a:solidFill>
            <a:srgbClr val="082F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94360" y="5422392"/>
            <a:ext cx="4206240" cy="548640"/>
          </a:xfrm>
          <a:prstGeom prst="ellipse">
            <a:avLst/>
          </a:prstGeom>
          <a:solidFill>
            <a:srgbClr val="1A1F2A"/>
          </a:solidFill>
          <a:ln w="31750">
            <a:solidFill>
              <a:srgbClr val="5B8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</a:p>
        </p:txBody>
      </p:sp>
      <p:sp>
        <p:nvSpPr>
          <p:cNvPr id="18" name="Hexagon 17"/>
          <p:cNvSpPr/>
          <p:nvPr/>
        </p:nvSpPr>
        <p:spPr>
          <a:xfrm>
            <a:off x="1897380" y="1624660"/>
            <a:ext cx="1600200" cy="1385773"/>
          </a:xfrm>
          <a:prstGeom prst="hexagon">
            <a:avLst>
              <a:gd name="adj" fmla="val 28868"/>
              <a:gd name="vf" fmla="val 115470"/>
            </a:avLst>
          </a:prstGeom>
          <a:solidFill>
            <a:srgbClr val="0B4DA2"/>
          </a:solidFill>
          <a:ln w="381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 wrap="square"/>
          <a:lstStyle/>
          <a:p>
            <a:pPr algn="ctr"/>
            <a:r>
              <a:rPr sz="1000" b="0">
                <a:solidFill>
                  <a:srgbClr val="FFFFFF"/>
                </a:solidFill>
                <a:latin typeface="Arial Black"/>
              </a:rPr>
              <a:t>Кв.</a:t>
            </a:r>
          </a:p>
          <a:p>
            <a:pPr algn="ctr"/>
            <a:r>
              <a:rPr sz="1000" b="0">
                <a:solidFill>
                  <a:srgbClr val="FFFFFF"/>
                </a:solidFill>
                <a:latin typeface="Arial Black"/>
              </a:rPr>
              <a:t>уравнения</a:t>
            </a:r>
          </a:p>
        </p:txBody>
      </p:sp>
      <p:sp>
        <p:nvSpPr>
          <p:cNvPr id="19" name="Hexagon 18"/>
          <p:cNvSpPr/>
          <p:nvPr/>
        </p:nvSpPr>
        <p:spPr>
          <a:xfrm>
            <a:off x="697230" y="2317546"/>
            <a:ext cx="1600200" cy="1385773"/>
          </a:xfrm>
          <a:prstGeom prst="hexagon">
            <a:avLst>
              <a:gd name="adj" fmla="val 28868"/>
              <a:gd name="vf" fmla="val 115470"/>
            </a:avLst>
          </a:prstGeom>
          <a:solidFill>
            <a:srgbClr val="5B8FD6"/>
          </a:solidFill>
          <a:ln w="381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 wrap="square"/>
          <a:lstStyle/>
          <a:p>
            <a:pPr algn="ctr"/>
            <a:r>
              <a:rPr sz="1000" b="0">
                <a:solidFill>
                  <a:srgbClr val="FFFFFF"/>
                </a:solidFill>
                <a:latin typeface="Arial Black"/>
              </a:rPr>
              <a:t>Лин.</a:t>
            </a:r>
          </a:p>
          <a:p>
            <a:pPr algn="ctr"/>
            <a:r>
              <a:rPr sz="1000" b="0">
                <a:solidFill>
                  <a:srgbClr val="FFFFFF"/>
                </a:solidFill>
                <a:latin typeface="Arial Black"/>
              </a:rPr>
              <a:t>уравнения</a:t>
            </a:r>
          </a:p>
        </p:txBody>
      </p:sp>
      <p:sp>
        <p:nvSpPr>
          <p:cNvPr id="20" name="Hexagon 19"/>
          <p:cNvSpPr/>
          <p:nvPr/>
        </p:nvSpPr>
        <p:spPr>
          <a:xfrm>
            <a:off x="3097530" y="2317546"/>
            <a:ext cx="1600200" cy="1385773"/>
          </a:xfrm>
          <a:prstGeom prst="hexagon">
            <a:avLst>
              <a:gd name="adj" fmla="val 28868"/>
              <a:gd name="vf" fmla="val 115470"/>
            </a:avLst>
          </a:prstGeom>
          <a:solidFill>
            <a:srgbClr val="0B4DA2"/>
          </a:solidFill>
          <a:ln w="381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 wrap="square"/>
          <a:lstStyle/>
          <a:p>
            <a:pPr algn="ctr"/>
            <a:r>
              <a:rPr sz="1200" b="0">
                <a:solidFill>
                  <a:srgbClr val="FFFFFF"/>
                </a:solidFill>
                <a:latin typeface="Arial Black"/>
              </a:rPr>
              <a:t>Корни</a:t>
            </a:r>
          </a:p>
        </p:txBody>
      </p:sp>
      <p:sp>
        <p:nvSpPr>
          <p:cNvPr id="21" name="Hexagon 20"/>
          <p:cNvSpPr/>
          <p:nvPr/>
        </p:nvSpPr>
        <p:spPr>
          <a:xfrm>
            <a:off x="1897380" y="3010433"/>
            <a:ext cx="1600200" cy="1385773"/>
          </a:xfrm>
          <a:prstGeom prst="hexagon">
            <a:avLst>
              <a:gd name="adj" fmla="val 28868"/>
              <a:gd name="vf" fmla="val 115470"/>
            </a:avLst>
          </a:prstGeom>
          <a:solidFill>
            <a:srgbClr val="E0473E"/>
          </a:solidFill>
          <a:ln w="381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 wrap="square"/>
          <a:lstStyle/>
          <a:p>
            <a:pPr algn="ctr"/>
            <a:r>
              <a:rPr sz="1200" b="0">
                <a:solidFill>
                  <a:srgbClr val="FFFFFF"/>
                </a:solidFill>
                <a:latin typeface="Arial Black"/>
              </a:rPr>
              <a:t>Дроби</a:t>
            </a:r>
          </a:p>
        </p:txBody>
      </p:sp>
      <p:sp>
        <p:nvSpPr>
          <p:cNvPr id="22" name="Hexagon 21"/>
          <p:cNvSpPr/>
          <p:nvPr/>
        </p:nvSpPr>
        <p:spPr>
          <a:xfrm>
            <a:off x="697230" y="3703320"/>
            <a:ext cx="1600200" cy="1385773"/>
          </a:xfrm>
          <a:prstGeom prst="hexagon">
            <a:avLst>
              <a:gd name="adj" fmla="val 28868"/>
              <a:gd name="vf" fmla="val 115470"/>
            </a:avLst>
          </a:prstGeom>
          <a:solidFill>
            <a:srgbClr val="B9CFEE"/>
          </a:solidFill>
          <a:ln w="381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 wrap="square"/>
          <a:lstStyle/>
          <a:p>
            <a:pPr algn="ctr"/>
            <a:r>
              <a:rPr sz="1200" b="0">
                <a:solidFill>
                  <a:srgbClr val="082F66"/>
                </a:solidFill>
                <a:latin typeface="Arial Black"/>
              </a:rPr>
              <a:t>Проценты</a:t>
            </a:r>
          </a:p>
        </p:txBody>
      </p:sp>
      <p:sp>
        <p:nvSpPr>
          <p:cNvPr id="23" name="Hexagon 22"/>
          <p:cNvSpPr/>
          <p:nvPr/>
        </p:nvSpPr>
        <p:spPr>
          <a:xfrm>
            <a:off x="3097530" y="3703320"/>
            <a:ext cx="1600200" cy="1385773"/>
          </a:xfrm>
          <a:prstGeom prst="hexagon">
            <a:avLst>
              <a:gd name="adj" fmla="val 28868"/>
              <a:gd name="vf" fmla="val 115470"/>
            </a:avLst>
          </a:prstGeom>
          <a:solidFill>
            <a:srgbClr val="0B4DA2"/>
          </a:solidFill>
          <a:ln w="381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 wrap="square"/>
          <a:lstStyle/>
          <a:p>
            <a:pPr algn="ctr"/>
            <a:r>
              <a:rPr sz="1200" b="0">
                <a:solidFill>
                  <a:srgbClr val="FFFFFF"/>
                </a:solidFill>
                <a:latin typeface="Arial Black"/>
              </a:rPr>
              <a:t>Степени</a:t>
            </a:r>
          </a:p>
        </p:txBody>
      </p:sp>
      <p:sp>
        <p:nvSpPr>
          <p:cNvPr id="24" name="Hexagon 23"/>
          <p:cNvSpPr/>
          <p:nvPr/>
        </p:nvSpPr>
        <p:spPr>
          <a:xfrm>
            <a:off x="1897380" y="4396206"/>
            <a:ext cx="1600200" cy="1385773"/>
          </a:xfrm>
          <a:prstGeom prst="hexagon">
            <a:avLst>
              <a:gd name="adj" fmla="val 28868"/>
              <a:gd name="vf" fmla="val 115470"/>
            </a:avLst>
          </a:prstGeom>
          <a:solidFill>
            <a:srgbClr val="B9CFEE"/>
          </a:solidFill>
          <a:ln w="381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 wrap="square"/>
          <a:lstStyle/>
          <a:p>
            <a:pPr algn="ctr"/>
            <a:r>
              <a:rPr sz="1000" b="0">
                <a:solidFill>
                  <a:srgbClr val="082F66"/>
                </a:solidFill>
                <a:latin typeface="Arial Black"/>
              </a:rPr>
              <a:t>Арифметика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130552" y="3941063"/>
            <a:ext cx="1133856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 wrap="square"/>
          <a:lstStyle/>
          <a:p>
            <a:pPr algn="ctr"/>
            <a:r>
              <a:rPr sz="900" b="0">
                <a:solidFill>
                  <a:srgbClr val="E0473E"/>
                </a:solidFill>
                <a:latin typeface="Arial Black"/>
              </a:rPr>
              <a:t>КОРЕНЬ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320040" y="6355080"/>
            <a:ext cx="548640" cy="0"/>
          </a:xfrm>
          <a:prstGeom prst="line">
            <a:avLst/>
          </a:prstGeom>
          <a:ln w="15875">
            <a:solidFill>
              <a:srgbClr val="B9CF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V="1">
            <a:off x="868680" y="6126480"/>
            <a:ext cx="274320" cy="228600"/>
          </a:xfrm>
          <a:prstGeom prst="line">
            <a:avLst/>
          </a:prstGeom>
          <a:ln w="15875">
            <a:solidFill>
              <a:srgbClr val="B9CF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1143000" y="6126480"/>
            <a:ext cx="640080" cy="0"/>
          </a:xfrm>
          <a:prstGeom prst="line">
            <a:avLst/>
          </a:prstGeom>
          <a:ln w="15875">
            <a:solidFill>
              <a:srgbClr val="B9CF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Oval 28"/>
          <p:cNvSpPr/>
          <p:nvPr/>
        </p:nvSpPr>
        <p:spPr>
          <a:xfrm>
            <a:off x="278892" y="6313932"/>
            <a:ext cx="82296" cy="82296"/>
          </a:xfrm>
          <a:prstGeom prst="ellipse">
            <a:avLst/>
          </a:prstGeom>
          <a:solidFill>
            <a:srgbClr val="0B4D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1741932" y="6085332"/>
            <a:ext cx="82296" cy="82296"/>
          </a:xfrm>
          <a:prstGeom prst="ellipse">
            <a:avLst/>
          </a:prstGeom>
          <a:solidFill>
            <a:srgbClr val="0B4D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</a:p>
        </p:txBody>
      </p:sp>
      <p:cxnSp>
        <p:nvCxnSpPr>
          <p:cNvPr id="31" name="Connector 30"/>
          <p:cNvCxnSpPr/>
          <p:nvPr/>
        </p:nvCxnSpPr>
        <p:spPr>
          <a:xfrm>
            <a:off x="7863840" y="5989320"/>
            <a:ext cx="731520" cy="0"/>
          </a:xfrm>
          <a:prstGeom prst="line">
            <a:avLst/>
          </a:prstGeom>
          <a:ln w="15875">
            <a:solidFill>
              <a:srgbClr val="B9CF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 flipV="1">
            <a:off x="8595360" y="5715000"/>
            <a:ext cx="274320" cy="274320"/>
          </a:xfrm>
          <a:prstGeom prst="line">
            <a:avLst/>
          </a:prstGeom>
          <a:ln w="15875">
            <a:solidFill>
              <a:srgbClr val="B9CF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8869680" y="5715000"/>
            <a:ext cx="1005840" cy="0"/>
          </a:xfrm>
          <a:prstGeom prst="line">
            <a:avLst/>
          </a:prstGeom>
          <a:ln w="15875">
            <a:solidFill>
              <a:srgbClr val="B9CF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Oval 33"/>
          <p:cNvSpPr/>
          <p:nvPr/>
        </p:nvSpPr>
        <p:spPr>
          <a:xfrm>
            <a:off x="7822692" y="5948172"/>
            <a:ext cx="82296" cy="82296"/>
          </a:xfrm>
          <a:prstGeom prst="ellipse">
            <a:avLst/>
          </a:prstGeom>
          <a:solidFill>
            <a:srgbClr val="0B4D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9834372" y="5673852"/>
            <a:ext cx="82296" cy="82296"/>
          </a:xfrm>
          <a:prstGeom prst="ellipse">
            <a:avLst/>
          </a:prstGeom>
          <a:solidFill>
            <a:srgbClr val="0B4D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9966959" y="5212080"/>
            <a:ext cx="91440" cy="91440"/>
          </a:xfrm>
          <a:prstGeom prst="ellipse">
            <a:avLst/>
          </a:prstGeom>
          <a:solidFill>
            <a:srgbClr val="0B4D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10515600" y="5486400"/>
            <a:ext cx="91440" cy="91440"/>
          </a:xfrm>
          <a:prstGeom prst="ellipse">
            <a:avLst/>
          </a:prstGeom>
          <a:solidFill>
            <a:srgbClr val="0B4D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11201400" y="5577840"/>
            <a:ext cx="91440" cy="91440"/>
          </a:xfrm>
          <a:prstGeom prst="ellipse">
            <a:avLst/>
          </a:prstGeom>
          <a:solidFill>
            <a:srgbClr val="0B4D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10104119" y="5852160"/>
            <a:ext cx="91440" cy="91440"/>
          </a:xfrm>
          <a:prstGeom prst="ellipse">
            <a:avLst/>
          </a:prstGeom>
          <a:solidFill>
            <a:srgbClr val="0B4D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1567159" y="5303520"/>
            <a:ext cx="91440" cy="91440"/>
          </a:xfrm>
          <a:prstGeom prst="ellipse">
            <a:avLst/>
          </a:prstGeom>
          <a:solidFill>
            <a:srgbClr val="0B4D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897880" y="1783080"/>
            <a:ext cx="59436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600" b="0" i="0">
                <a:solidFill>
                  <a:srgbClr val="0B4DA2"/>
                </a:solidFill>
                <a:latin typeface="Arial Black"/>
              </a:rPr>
              <a:t>TAMYR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943600" y="2788920"/>
            <a:ext cx="5943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0" i="0">
                <a:solidFill>
                  <a:srgbClr val="111111"/>
                </a:solidFill>
                <a:latin typeface="Arial Black"/>
              </a:rPr>
              <a:t>НАХОДИМ КОРЕНЬ ОШИБКИ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943600" y="3566160"/>
            <a:ext cx="5669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0B4DA2"/>
                </a:solidFill>
                <a:latin typeface="Arial Black"/>
              </a:rPr>
              <a:t>Адаптивная диагностика по математике для ЕНТ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943600" y="3977639"/>
            <a:ext cx="55778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4A4F57"/>
                </a:solidFill>
                <a:latin typeface="Arial Black"/>
              </a:rPr>
              <a:t>За один тест показывает базовую тему, из-за которой «сыпятся» все следующие. Тамыр (каз.) — корень.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943600" y="4983480"/>
            <a:ext cx="2651760" cy="457200"/>
          </a:xfrm>
          <a:prstGeom prst="rect">
            <a:avLst/>
          </a:prstGeom>
          <a:solidFill>
            <a:srgbClr val="0B4D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 wrap="square"/>
          <a:lstStyle/>
          <a:p>
            <a:pPr algn="ctr"/>
            <a:r>
              <a:rPr sz="1200" b="0">
                <a:solidFill>
                  <a:srgbClr val="FFFFFF"/>
                </a:solidFill>
                <a:latin typeface="Arial Black"/>
              </a:rPr>
              <a:t>Трек 2 · EduTech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528255" y="6355080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 i="0">
                <a:solidFill>
                  <a:srgbClr val="7A808A"/>
                </a:solidFill>
                <a:latin typeface="Arial Black"/>
              </a:rPr>
              <a:t>VentureHack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Hexagon 1"/>
          <p:cNvSpPr/>
          <p:nvPr/>
        </p:nvSpPr>
        <p:spPr>
          <a:xfrm>
            <a:off x="6309359" y="681959"/>
            <a:ext cx="6766560" cy="5859840"/>
          </a:xfrm>
          <a:prstGeom prst="hexagon">
            <a:avLst>
              <a:gd name="adj" fmla="val 28868"/>
              <a:gd name="vf" fmla="val 115470"/>
            </a:avLst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</a:p>
        </p:txBody>
      </p:sp>
      <p:sp>
        <p:nvSpPr>
          <p:cNvPr id="3" name="Hexagon 2"/>
          <p:cNvSpPr/>
          <p:nvPr/>
        </p:nvSpPr>
        <p:spPr>
          <a:xfrm>
            <a:off x="548640" y="384048"/>
            <a:ext cx="384048" cy="332585"/>
          </a:xfrm>
          <a:prstGeom prst="hexagon">
            <a:avLst>
              <a:gd name="adj" fmla="val 28868"/>
              <a:gd name="vf" fmla="val 115470"/>
            </a:avLst>
          </a:prstGeom>
          <a:solidFill>
            <a:srgbClr val="0B4D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>
            <a:off x="740664" y="438912"/>
            <a:ext cx="0" cy="82295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 flipH="1">
            <a:off x="671169" y="521207"/>
            <a:ext cx="69495" cy="100585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740664" y="521207"/>
            <a:ext cx="69494" cy="100585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740664" y="521207"/>
            <a:ext cx="0" cy="100585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H="1" flipV="1">
            <a:off x="685800" y="438912"/>
            <a:ext cx="54864" cy="36576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V="1">
            <a:off x="740664" y="438912"/>
            <a:ext cx="54864" cy="36576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1024128" y="402336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 i="0">
                <a:solidFill>
                  <a:srgbClr val="0B4DA2"/>
                </a:solidFill>
                <a:latin typeface="Arial Black"/>
              </a:rPr>
              <a:t>Tamyr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868680"/>
            <a:ext cx="58521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00" b="0" i="0">
                <a:solidFill>
                  <a:srgbClr val="0B4DA2"/>
                </a:solidFill>
                <a:latin typeface="Arial Black"/>
              </a:rPr>
              <a:t>ПРОБЛЕМА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1618488"/>
            <a:ext cx="58521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111111"/>
                </a:solidFill>
                <a:latin typeface="Arial Black"/>
              </a:rPr>
              <a:t>УЧЕНИК ПОВТОРЯЕТ
НЕ ТУ ТЕМУ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971800"/>
            <a:ext cx="5486400" cy="3108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sz="1500" b="0" i="0">
                <a:solidFill>
                  <a:srgbClr val="0B4DA2"/>
                </a:solidFill>
                <a:latin typeface="Arial Black"/>
              </a:rPr>
              <a:t>Пример: </a:t>
            </a:r>
            <a:r>
              <a:rPr sz="1500" b="0" i="0">
                <a:solidFill>
                  <a:srgbClr val="4A4F57"/>
                </a:solidFill>
                <a:latin typeface="Arial Black"/>
              </a:rPr>
              <a:t>ученица готовится к ЕНТ и ошибается в квадратных уравнениях.</a:t>
            </a:r>
          </a:p>
          <a:p>
            <a:pPr algn="l">
              <a:spcAft>
                <a:spcPts val="1200"/>
              </a:spcAft>
            </a:pPr>
            <a:r>
              <a:rPr sz="1500" b="0" i="0">
                <a:solidFill>
                  <a:srgbClr val="4A4F57"/>
                </a:solidFill>
                <a:latin typeface="Arial Black"/>
              </a:rPr>
              <a:t>Пробник советует: «Повторите квадратные уравнения». Она повторяет, а ошибки остаются.</a:t>
            </a:r>
          </a:p>
          <a:p>
            <a:pPr algn="l">
              <a:spcAft>
                <a:spcPts val="1200"/>
              </a:spcAft>
            </a:pPr>
            <a:r>
              <a:rPr sz="1500" b="0" i="0">
                <a:solidFill>
                  <a:srgbClr val="4A4F57"/>
                </a:solidFill>
                <a:latin typeface="Arial Black"/>
              </a:rPr>
              <a:t>Настоящая причина лежит на три темы ниже: </a:t>
            </a:r>
            <a:r>
              <a:rPr sz="1500" b="0" i="0">
                <a:solidFill>
                  <a:srgbClr val="E0473E"/>
                </a:solidFill>
                <a:latin typeface="Arial Black"/>
              </a:rPr>
              <a:t>она неверно складывает дроби</a:t>
            </a:r>
            <a:r>
              <a:rPr sz="1500" b="0" i="0">
                <a:solidFill>
                  <a:srgbClr val="4A4F57"/>
                </a:solidFill>
                <a:latin typeface="Arial Black"/>
              </a:rPr>
              <a:t> — это материал 6 класса.</a:t>
            </a:r>
          </a:p>
          <a:p>
            <a:pPr algn="l">
              <a:spcAft>
                <a:spcPts val="1200"/>
              </a:spcAft>
            </a:pPr>
            <a:r>
              <a:rPr sz="1500" b="0" i="0">
                <a:solidFill>
                  <a:srgbClr val="0B4DA2"/>
                </a:solidFill>
                <a:latin typeface="Arial Black"/>
              </a:rPr>
              <a:t>Тест показывает симптом, но не диагноз.</a:t>
            </a:r>
          </a:p>
        </p:txBody>
      </p:sp>
      <p:sp>
        <p:nvSpPr>
          <p:cNvPr id="14" name="Hexagon 13"/>
          <p:cNvSpPr/>
          <p:nvPr/>
        </p:nvSpPr>
        <p:spPr>
          <a:xfrm>
            <a:off x="7498079" y="1600200"/>
            <a:ext cx="4206240" cy="868680"/>
          </a:xfrm>
          <a:prstGeom prst="hexagon">
            <a:avLst>
              <a:gd name="adj" fmla="val 50000"/>
              <a:gd name="vf" fmla="val 115470"/>
            </a:avLst>
          </a:prstGeom>
          <a:solidFill>
            <a:srgbClr val="FFFFFF"/>
          </a:solidFill>
          <a:ln w="31750">
            <a:solidFill>
              <a:srgbClr val="0B4D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 wrap="square"/>
          <a:lstStyle/>
          <a:p>
            <a:pPr algn="ctr"/>
            <a:r>
              <a:rPr sz="1700" b="0">
                <a:solidFill>
                  <a:srgbClr val="0B4DA2"/>
                </a:solidFill>
                <a:latin typeface="Arial Black"/>
              </a:rPr>
              <a:t>Квадратные уравнения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79" y="2514600"/>
            <a:ext cx="4206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1">
                <a:solidFill>
                  <a:srgbClr val="4A4F57"/>
                </a:solidFill>
                <a:latin typeface="Arial Black"/>
              </a:rPr>
              <a:t>ошибка видна здесь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9601200" y="2788920"/>
            <a:ext cx="0" cy="256032"/>
          </a:xfrm>
          <a:prstGeom prst="line">
            <a:avLst/>
          </a:prstGeom>
          <a:ln w="31750">
            <a:solidFill>
              <a:srgbClr val="E0473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Hexagon 16"/>
          <p:cNvSpPr/>
          <p:nvPr/>
        </p:nvSpPr>
        <p:spPr>
          <a:xfrm>
            <a:off x="7498079" y="3063240"/>
            <a:ext cx="4206240" cy="868680"/>
          </a:xfrm>
          <a:prstGeom prst="hexagon">
            <a:avLst>
              <a:gd name="adj" fmla="val 50000"/>
              <a:gd name="vf" fmla="val 115470"/>
            </a:avLst>
          </a:prstGeom>
          <a:solidFill>
            <a:srgbClr val="FFFFFF"/>
          </a:solidFill>
          <a:ln w="31750">
            <a:solidFill>
              <a:srgbClr val="0B4D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 wrap="square"/>
          <a:lstStyle/>
          <a:p>
            <a:pPr algn="ctr"/>
            <a:r>
              <a:rPr sz="1700" b="0">
                <a:solidFill>
                  <a:srgbClr val="0B4DA2"/>
                </a:solidFill>
                <a:latin typeface="Arial Black"/>
              </a:rPr>
              <a:t>Линейные уравнения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79" y="3977639"/>
            <a:ext cx="4206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1">
                <a:solidFill>
                  <a:srgbClr val="4A4F57"/>
                </a:solidFill>
                <a:latin typeface="Arial Black"/>
              </a:rPr>
              <a:t>ошибка тянется отсюда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9601200" y="4251960"/>
            <a:ext cx="0" cy="256032"/>
          </a:xfrm>
          <a:prstGeom prst="line">
            <a:avLst/>
          </a:prstGeom>
          <a:ln w="31750">
            <a:solidFill>
              <a:srgbClr val="E0473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Hexagon 19"/>
          <p:cNvSpPr/>
          <p:nvPr/>
        </p:nvSpPr>
        <p:spPr>
          <a:xfrm>
            <a:off x="7498079" y="4526280"/>
            <a:ext cx="4206240" cy="868680"/>
          </a:xfrm>
          <a:prstGeom prst="hexagon">
            <a:avLst>
              <a:gd name="adj" fmla="val 50000"/>
              <a:gd name="vf" fmla="val 115470"/>
            </a:avLst>
          </a:prstGeom>
          <a:solidFill>
            <a:srgbClr val="E0473E"/>
          </a:solidFill>
          <a:ln w="31750">
            <a:solidFill>
              <a:srgbClr val="E047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 wrap="square"/>
          <a:lstStyle/>
          <a:p>
            <a:pPr algn="ctr"/>
            <a:r>
              <a:rPr sz="1700" b="0">
                <a:solidFill>
                  <a:srgbClr val="FFFFFF"/>
                </a:solidFill>
                <a:latin typeface="Arial Black"/>
              </a:rPr>
              <a:t>Действия с дробями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8079" y="5440680"/>
            <a:ext cx="4206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1">
                <a:solidFill>
                  <a:srgbClr val="4A4F57"/>
                </a:solidFill>
                <a:latin typeface="Arial Black"/>
              </a:rPr>
              <a:t>корень проблемы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28255" y="6355080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7A808A"/>
                </a:solidFill>
                <a:latin typeface="Arial Black"/>
              </a:rPr>
              <a:t>VentureHack 2026  ·  Трек 2 — EduTech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Hexagon 1"/>
          <p:cNvSpPr/>
          <p:nvPr/>
        </p:nvSpPr>
        <p:spPr>
          <a:xfrm>
            <a:off x="10317175" y="384048"/>
            <a:ext cx="384048" cy="332585"/>
          </a:xfrm>
          <a:prstGeom prst="hexagon">
            <a:avLst>
              <a:gd name="adj" fmla="val 28868"/>
              <a:gd name="vf" fmla="val 115470"/>
            </a:avLst>
          </a:prstGeom>
          <a:solidFill>
            <a:srgbClr val="0B4D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10509199" y="438912"/>
            <a:ext cx="0" cy="82295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 flipH="1">
            <a:off x="10439704" y="521207"/>
            <a:ext cx="69495" cy="100585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10509199" y="521207"/>
            <a:ext cx="69494" cy="100585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0509199" y="521207"/>
            <a:ext cx="0" cy="100585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 flipH="1" flipV="1">
            <a:off x="10454335" y="438912"/>
            <a:ext cx="54864" cy="36576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V="1">
            <a:off x="10509199" y="438912"/>
            <a:ext cx="54864" cy="36576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0792663" y="402336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 i="0">
                <a:solidFill>
                  <a:srgbClr val="0B4DA2"/>
                </a:solidFill>
                <a:latin typeface="Arial Black"/>
              </a:rPr>
              <a:t>Tamyr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86868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00" b="0" i="0">
                <a:solidFill>
                  <a:srgbClr val="0B4DA2"/>
                </a:solidFill>
                <a:latin typeface="Arial Black"/>
              </a:rPr>
              <a:t>ПРИЧИНЫ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1618488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111111"/>
                </a:solidFill>
                <a:latin typeface="Arial Black"/>
              </a:rPr>
              <a:t>ПОЧЕМУ ЭТО ПРОИСХОДИТ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2743200"/>
            <a:ext cx="3474720" cy="2788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</a:p>
        </p:txBody>
      </p:sp>
      <p:sp>
        <p:nvSpPr>
          <p:cNvPr id="13" name="Hexagon 12"/>
          <p:cNvSpPr/>
          <p:nvPr/>
        </p:nvSpPr>
        <p:spPr>
          <a:xfrm>
            <a:off x="914400" y="2395728"/>
            <a:ext cx="868680" cy="752276"/>
          </a:xfrm>
          <a:prstGeom prst="hexagon">
            <a:avLst>
              <a:gd name="adj" fmla="val 28868"/>
              <a:gd name="vf" fmla="val 115470"/>
            </a:avLst>
          </a:prstGeom>
          <a:solidFill>
            <a:srgbClr val="0B4DA2"/>
          </a:solidFill>
          <a:ln w="381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 wrap="square"/>
          <a:lstStyle/>
          <a:p>
            <a:pPr algn="ctr"/>
            <a:r>
              <a:rPr sz="2200" b="0">
                <a:solidFill>
                  <a:srgbClr val="FFFFFF"/>
                </a:solidFill>
                <a:latin typeface="Arial Black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3429000"/>
            <a:ext cx="29260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0B4DA2"/>
                </a:solidFill>
                <a:latin typeface="Arial Black"/>
              </a:rPr>
              <a:t>Математика кумулятивна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114800"/>
            <a:ext cx="292608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4A4F57"/>
                </a:solidFill>
                <a:latin typeface="Arial Black"/>
              </a:rPr>
              <a:t>Каждая тема держится на предыдущих. Пробел в базовой теме всплывает позже — в теме, которая на ней держится.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9120" y="2743200"/>
            <a:ext cx="3474720" cy="2788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</a:p>
        </p:txBody>
      </p:sp>
      <p:sp>
        <p:nvSpPr>
          <p:cNvPr id="17" name="Hexagon 16"/>
          <p:cNvSpPr/>
          <p:nvPr/>
        </p:nvSpPr>
        <p:spPr>
          <a:xfrm>
            <a:off x="4663440" y="2395728"/>
            <a:ext cx="868680" cy="752276"/>
          </a:xfrm>
          <a:prstGeom prst="hexagon">
            <a:avLst>
              <a:gd name="adj" fmla="val 28868"/>
              <a:gd name="vf" fmla="val 115470"/>
            </a:avLst>
          </a:prstGeom>
          <a:solidFill>
            <a:srgbClr val="0B4DA2"/>
          </a:solidFill>
          <a:ln w="381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 wrap="square"/>
          <a:lstStyle/>
          <a:p>
            <a:pPr algn="ctr"/>
            <a:r>
              <a:rPr sz="2200" b="0">
                <a:solidFill>
                  <a:srgbClr val="FFFFFF"/>
                </a:solidFill>
                <a:latin typeface="Arial Black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3429000"/>
            <a:ext cx="29260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0B4DA2"/>
                </a:solidFill>
                <a:latin typeface="Arial Black"/>
              </a:rPr>
              <a:t>Тесты измеряют балл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63440" y="4114800"/>
            <a:ext cx="292608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4A4F57"/>
                </a:solidFill>
                <a:latin typeface="Arial Black"/>
              </a:rPr>
              <a:t>Пробники и контрольные говорят, где ошибка произошла, но не почему. Выбранный неверный вариант не анализируется.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38159" y="2743200"/>
            <a:ext cx="3474720" cy="2788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</a:p>
        </p:txBody>
      </p:sp>
      <p:sp>
        <p:nvSpPr>
          <p:cNvPr id="21" name="Hexagon 20"/>
          <p:cNvSpPr/>
          <p:nvPr/>
        </p:nvSpPr>
        <p:spPr>
          <a:xfrm>
            <a:off x="8412480" y="2395728"/>
            <a:ext cx="868680" cy="752276"/>
          </a:xfrm>
          <a:prstGeom prst="hexagon">
            <a:avLst>
              <a:gd name="adj" fmla="val 28868"/>
              <a:gd name="vf" fmla="val 115470"/>
            </a:avLst>
          </a:prstGeom>
          <a:solidFill>
            <a:srgbClr val="0B4DA2"/>
          </a:solidFill>
          <a:ln w="381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 wrap="square"/>
          <a:lstStyle/>
          <a:p>
            <a:pPr algn="ctr"/>
            <a:r>
              <a:rPr sz="2200" b="0">
                <a:solidFill>
                  <a:srgbClr val="FFFFFF"/>
                </a:solidFill>
                <a:latin typeface="Arial Black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12480" y="3429000"/>
            <a:ext cx="29260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0B4DA2"/>
                </a:solidFill>
                <a:latin typeface="Arial Black"/>
              </a:rPr>
              <a:t>У учителя нет времени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12480" y="4114800"/>
            <a:ext cx="292608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4A4F57"/>
                </a:solidFill>
                <a:latin typeface="Arial Black"/>
              </a:rPr>
              <a:t>В классе 25–30 учеников. Индивидуально проверить каждого по всем темам с 5 по 9 класс невозможно.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5806440"/>
            <a:ext cx="108813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E0473E"/>
                </a:solidFill>
                <a:latin typeface="Arial Black"/>
              </a:rPr>
              <a:t>Место для вашей цифры из опроса: </a:t>
            </a:r>
            <a:r>
              <a:rPr sz="1100" b="0" i="0">
                <a:solidFill>
                  <a:srgbClr val="4A4F57"/>
                </a:solidFill>
                <a:latin typeface="Arial Black"/>
              </a:rPr>
              <a:t>«__% учеников не понимают, почему ошиблись в пробнике» (n = __). Заполните по docs/validation-plan.md или удалите строку.</a:t>
            </a:r>
          </a:p>
        </p:txBody>
      </p:sp>
      <p:sp>
        <p:nvSpPr>
          <p:cNvPr id="25" name="Oval 24"/>
          <p:cNvSpPr/>
          <p:nvPr/>
        </p:nvSpPr>
        <p:spPr>
          <a:xfrm>
            <a:off x="11091672" y="1719072"/>
            <a:ext cx="128016" cy="128016"/>
          </a:xfrm>
          <a:prstGeom prst="ellipse">
            <a:avLst/>
          </a:prstGeom>
          <a:solidFill>
            <a:srgbClr val="0B4D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1521440" y="2057400"/>
            <a:ext cx="91440" cy="91440"/>
          </a:xfrm>
          <a:prstGeom prst="ellipse">
            <a:avLst/>
          </a:prstGeom>
          <a:solidFill>
            <a:srgbClr val="0B4D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0744200" y="2148840"/>
            <a:ext cx="91440" cy="91440"/>
          </a:xfrm>
          <a:prstGeom prst="ellipse">
            <a:avLst/>
          </a:prstGeom>
          <a:solidFill>
            <a:srgbClr val="0B4D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Hexagon 1"/>
          <p:cNvSpPr/>
          <p:nvPr/>
        </p:nvSpPr>
        <p:spPr>
          <a:xfrm>
            <a:off x="-2743200" y="4920752"/>
            <a:ext cx="3840480" cy="3325855"/>
          </a:xfrm>
          <a:prstGeom prst="hexagon">
            <a:avLst>
              <a:gd name="adj" fmla="val 28868"/>
              <a:gd name="vf" fmla="val 115470"/>
            </a:avLst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</a:p>
        </p:txBody>
      </p:sp>
      <p:sp>
        <p:nvSpPr>
          <p:cNvPr id="3" name="Hexagon 2"/>
          <p:cNvSpPr/>
          <p:nvPr/>
        </p:nvSpPr>
        <p:spPr>
          <a:xfrm>
            <a:off x="10317175" y="384048"/>
            <a:ext cx="384048" cy="332585"/>
          </a:xfrm>
          <a:prstGeom prst="hexagon">
            <a:avLst>
              <a:gd name="adj" fmla="val 28868"/>
              <a:gd name="vf" fmla="val 115470"/>
            </a:avLst>
          </a:prstGeom>
          <a:solidFill>
            <a:srgbClr val="0B4D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>
            <a:off x="10509199" y="438912"/>
            <a:ext cx="0" cy="82295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 flipH="1">
            <a:off x="10439704" y="521207"/>
            <a:ext cx="69495" cy="100585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0509199" y="521207"/>
            <a:ext cx="69494" cy="100585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0509199" y="521207"/>
            <a:ext cx="0" cy="100585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H="1" flipV="1">
            <a:off x="10454335" y="438912"/>
            <a:ext cx="54864" cy="36576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V="1">
            <a:off x="10509199" y="438912"/>
            <a:ext cx="54864" cy="36576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10792663" y="402336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 i="0">
                <a:solidFill>
                  <a:srgbClr val="0B4DA2"/>
                </a:solidFill>
                <a:latin typeface="Arial Black"/>
              </a:rPr>
              <a:t>Tamyr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86868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00" b="0" i="0">
                <a:solidFill>
                  <a:srgbClr val="0B4DA2"/>
                </a:solidFill>
                <a:latin typeface="Arial Black"/>
              </a:rPr>
              <a:t>РЕШЕНИЕ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1618488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111111"/>
                </a:solidFill>
                <a:latin typeface="Arial Black"/>
              </a:rPr>
              <a:t>НАЙТИ КОРЕНЬ → ПОКАЗАТЬ → ПОЧИНИТЬ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783080" y="2761488"/>
            <a:ext cx="1783080" cy="0"/>
          </a:xfrm>
          <a:prstGeom prst="line">
            <a:avLst/>
          </a:prstGeom>
          <a:ln w="25400">
            <a:solidFill>
              <a:srgbClr val="B9CFE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Hexagon 13"/>
          <p:cNvSpPr/>
          <p:nvPr/>
        </p:nvSpPr>
        <p:spPr>
          <a:xfrm>
            <a:off x="822960" y="2331720"/>
            <a:ext cx="960120" cy="831463"/>
          </a:xfrm>
          <a:prstGeom prst="hexagon">
            <a:avLst>
              <a:gd name="adj" fmla="val 28868"/>
              <a:gd name="vf" fmla="val 115470"/>
            </a:avLst>
          </a:prstGeom>
          <a:solidFill>
            <a:srgbClr val="0B4DA2"/>
          </a:solidFill>
          <a:ln w="381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 wrap="square"/>
          <a:lstStyle/>
          <a:p>
            <a:pPr algn="ctr"/>
            <a:r>
              <a:rPr sz="2200" b="0">
                <a:solidFill>
                  <a:srgbClr val="FFFFFF"/>
                </a:solidFill>
                <a:latin typeface="Arial Black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3429000"/>
            <a:ext cx="25146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0B4DA2"/>
                </a:solidFill>
                <a:latin typeface="Arial Black"/>
              </a:rPr>
              <a:t>Адаптивная диагностика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4160520"/>
            <a:ext cx="251460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4A4F57"/>
                </a:solidFill>
                <a:latin typeface="Arial Black"/>
              </a:rPr>
              <a:t>Начинаем со сложной темы и спускаемся по графу из 17 тем только там, где есть ошибки. Без пробелов — около 9 вопросов.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572000" y="2761488"/>
            <a:ext cx="1783079" cy="0"/>
          </a:xfrm>
          <a:prstGeom prst="line">
            <a:avLst/>
          </a:prstGeom>
          <a:ln w="25400">
            <a:solidFill>
              <a:srgbClr val="B9CFE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Hexagon 17"/>
          <p:cNvSpPr/>
          <p:nvPr/>
        </p:nvSpPr>
        <p:spPr>
          <a:xfrm>
            <a:off x="3611879" y="2331720"/>
            <a:ext cx="960120" cy="831463"/>
          </a:xfrm>
          <a:prstGeom prst="hexagon">
            <a:avLst>
              <a:gd name="adj" fmla="val 28868"/>
              <a:gd name="vf" fmla="val 115470"/>
            </a:avLst>
          </a:prstGeom>
          <a:solidFill>
            <a:srgbClr val="0B4DA2"/>
          </a:solidFill>
          <a:ln w="381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 wrap="square"/>
          <a:lstStyle/>
          <a:p>
            <a:pPr algn="ctr"/>
            <a:r>
              <a:rPr sz="2200" b="0">
                <a:solidFill>
                  <a:srgbClr val="FFFFFF"/>
                </a:solidFill>
                <a:latin typeface="Arial Black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11879" y="3429000"/>
            <a:ext cx="25146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0B4DA2"/>
                </a:solidFill>
                <a:latin typeface="Arial Black"/>
              </a:rPr>
              <a:t>Карта знаний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11879" y="4160520"/>
            <a:ext cx="251460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4A4F57"/>
                </a:solidFill>
                <a:latin typeface="Arial Black"/>
              </a:rPr>
              <a:t>Корневой пробел, цепочки «ошибка в X → корень в Y» и ошибки мышления по выбранным неверным ответам.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360920" y="2761488"/>
            <a:ext cx="1783080" cy="0"/>
          </a:xfrm>
          <a:prstGeom prst="line">
            <a:avLst/>
          </a:prstGeom>
          <a:ln w="25400">
            <a:solidFill>
              <a:srgbClr val="B9CFE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Hexagon 21"/>
          <p:cNvSpPr/>
          <p:nvPr/>
        </p:nvSpPr>
        <p:spPr>
          <a:xfrm>
            <a:off x="6400800" y="2331720"/>
            <a:ext cx="960120" cy="831463"/>
          </a:xfrm>
          <a:prstGeom prst="hexagon">
            <a:avLst>
              <a:gd name="adj" fmla="val 28868"/>
              <a:gd name="vf" fmla="val 115470"/>
            </a:avLst>
          </a:prstGeom>
          <a:solidFill>
            <a:srgbClr val="0B4DA2"/>
          </a:solidFill>
          <a:ln w="381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 wrap="square"/>
          <a:lstStyle/>
          <a:p>
            <a:pPr algn="ctr"/>
            <a:r>
              <a:rPr sz="2200" b="0">
                <a:solidFill>
                  <a:srgbClr val="FFFFFF"/>
                </a:solidFill>
                <a:latin typeface="Arial Black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3429000"/>
            <a:ext cx="25146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0B4DA2"/>
                </a:solidFill>
                <a:latin typeface="Arial Black"/>
              </a:rPr>
              <a:t>План снизу вверх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0" y="4160520"/>
            <a:ext cx="251460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4A4F57"/>
                </a:solidFill>
                <a:latin typeface="Arial Black"/>
              </a:rPr>
              <a:t>Правило, пример, разбор своей ошибки и 2 новые проверочные задачи. Следующая тема — после корня.</a:t>
            </a:r>
          </a:p>
        </p:txBody>
      </p:sp>
      <p:sp>
        <p:nvSpPr>
          <p:cNvPr id="25" name="Hexagon 24"/>
          <p:cNvSpPr/>
          <p:nvPr/>
        </p:nvSpPr>
        <p:spPr>
          <a:xfrm>
            <a:off x="9189719" y="2331720"/>
            <a:ext cx="960120" cy="831463"/>
          </a:xfrm>
          <a:prstGeom prst="hexagon">
            <a:avLst>
              <a:gd name="adj" fmla="val 28868"/>
              <a:gd name="vf" fmla="val 115470"/>
            </a:avLst>
          </a:prstGeom>
          <a:solidFill>
            <a:srgbClr val="111111"/>
          </a:solidFill>
          <a:ln w="381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 wrap="square"/>
          <a:lstStyle/>
          <a:p>
            <a:pPr algn="ctr"/>
            <a:r>
              <a:rPr sz="2200" b="0">
                <a:solidFill>
                  <a:srgbClr val="FFFFFF"/>
                </a:solidFill>
                <a:latin typeface="Arial Black"/>
              </a:rPr>
              <a:t>+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89719" y="3429000"/>
            <a:ext cx="25146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111111"/>
                </a:solidFill>
                <a:latin typeface="Arial Black"/>
              </a:rPr>
              <a:t>Панель учителя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89719" y="4160520"/>
            <a:ext cx="251460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4A4F57"/>
                </a:solidFill>
                <a:latin typeface="Arial Black"/>
              </a:rPr>
              <a:t>Корни всего класса, частые ошибки, готовые мини-группы, тепловая карта и CSV.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566160" y="5806440"/>
            <a:ext cx="7680960" cy="457200"/>
          </a:xfrm>
          <a:prstGeom prst="rect">
            <a:avLst/>
          </a:prstGeom>
          <a:solidFill>
            <a:srgbClr val="0B4D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 wrap="square"/>
          <a:lstStyle/>
          <a:p>
            <a:pPr algn="ctr"/>
            <a:r>
              <a:rPr sz="1200" b="0">
                <a:solidFill>
                  <a:srgbClr val="FFFFFF"/>
                </a:solidFill>
                <a:latin typeface="Arial Black"/>
              </a:rPr>
              <a:t>Работает в браузере на любом телефоне — без установки, регистрации и сервера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528255" y="6355080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7A808A"/>
                </a:solidFill>
                <a:latin typeface="Arial Black"/>
              </a:rPr>
              <a:t>VentureHack 2026  ·  Трек 2 — EduTech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Hexagon 1"/>
          <p:cNvSpPr/>
          <p:nvPr/>
        </p:nvSpPr>
        <p:spPr>
          <a:xfrm>
            <a:off x="10317175" y="384048"/>
            <a:ext cx="384048" cy="332585"/>
          </a:xfrm>
          <a:prstGeom prst="hexagon">
            <a:avLst>
              <a:gd name="adj" fmla="val 28868"/>
              <a:gd name="vf" fmla="val 115470"/>
            </a:avLst>
          </a:prstGeom>
          <a:solidFill>
            <a:srgbClr val="0B4D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10509199" y="438912"/>
            <a:ext cx="0" cy="82295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 flipH="1">
            <a:off x="10439704" y="521207"/>
            <a:ext cx="69495" cy="100585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10509199" y="521207"/>
            <a:ext cx="69494" cy="100585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0509199" y="521207"/>
            <a:ext cx="0" cy="100585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 flipH="1" flipV="1">
            <a:off x="10454335" y="438912"/>
            <a:ext cx="54864" cy="36576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V="1">
            <a:off x="10509199" y="438912"/>
            <a:ext cx="54864" cy="36576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0792663" y="402336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 i="0">
                <a:solidFill>
                  <a:srgbClr val="0B4DA2"/>
                </a:solidFill>
                <a:latin typeface="Arial Black"/>
              </a:rPr>
              <a:t>Tamyr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86868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00" b="0" i="0">
                <a:solidFill>
                  <a:srgbClr val="0B4DA2"/>
                </a:solidFill>
                <a:latin typeface="Arial Black"/>
              </a:rPr>
              <a:t>АЛГОРИТМ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1618488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111111"/>
                </a:solidFill>
                <a:latin typeface="Arial Black"/>
              </a:rPr>
              <a:t>КАК TAMYR ИЩЕТ КОРЕНЬ</a:t>
            </a:r>
          </a:p>
        </p:txBody>
      </p:sp>
      <p:cxnSp>
        <p:nvCxnSpPr>
          <p:cNvPr id="12" name="Connector 11"/>
          <p:cNvCxnSpPr/>
          <p:nvPr/>
        </p:nvCxnSpPr>
        <p:spPr>
          <a:xfrm flipH="1">
            <a:off x="1348740" y="2898648"/>
            <a:ext cx="1783080" cy="530352"/>
          </a:xfrm>
          <a:prstGeom prst="line">
            <a:avLst/>
          </a:prstGeom>
          <a:ln w="19050">
            <a:solidFill>
              <a:srgbClr val="D5DDE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3131820" y="2898648"/>
            <a:ext cx="0" cy="530352"/>
          </a:xfrm>
          <a:prstGeom prst="line">
            <a:avLst/>
          </a:prstGeom>
          <a:ln w="31750">
            <a:solidFill>
              <a:srgbClr val="E0473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3131820" y="2898648"/>
            <a:ext cx="1783080" cy="530352"/>
          </a:xfrm>
          <a:prstGeom prst="line">
            <a:avLst/>
          </a:prstGeom>
          <a:ln w="19050">
            <a:solidFill>
              <a:srgbClr val="D5DDE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H="1">
            <a:off x="2217420" y="3995928"/>
            <a:ext cx="914400" cy="530352"/>
          </a:xfrm>
          <a:prstGeom prst="line">
            <a:avLst/>
          </a:prstGeom>
          <a:ln w="19050">
            <a:solidFill>
              <a:srgbClr val="D5DDE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3131820" y="3995928"/>
            <a:ext cx="914400" cy="530352"/>
          </a:xfrm>
          <a:prstGeom prst="line">
            <a:avLst/>
          </a:prstGeom>
          <a:ln w="31750">
            <a:solidFill>
              <a:srgbClr val="E0473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4046220" y="5093208"/>
            <a:ext cx="0" cy="530352"/>
          </a:xfrm>
          <a:prstGeom prst="line">
            <a:avLst/>
          </a:prstGeom>
          <a:ln w="19050">
            <a:solidFill>
              <a:srgbClr val="D5DDE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Hexagon 17"/>
          <p:cNvSpPr/>
          <p:nvPr/>
        </p:nvSpPr>
        <p:spPr>
          <a:xfrm>
            <a:off x="2331720" y="2331720"/>
            <a:ext cx="1600200" cy="566928"/>
          </a:xfrm>
          <a:prstGeom prst="hexagon">
            <a:avLst>
              <a:gd name="adj" fmla="val 50000"/>
              <a:gd name="vf" fmla="val 115470"/>
            </a:avLst>
          </a:prstGeom>
          <a:solidFill>
            <a:srgbClr val="FBE3E1"/>
          </a:solidFill>
          <a:ln w="25400">
            <a:solidFill>
              <a:srgbClr val="E047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 wrap="square"/>
          <a:lstStyle/>
          <a:p>
            <a:pPr algn="ctr"/>
            <a:r>
              <a:rPr sz="1000" b="0">
                <a:solidFill>
                  <a:srgbClr val="111111"/>
                </a:solidFill>
                <a:latin typeface="Arial Black"/>
              </a:rPr>
              <a:t>Кв. уравнения</a:t>
            </a:r>
          </a:p>
        </p:txBody>
      </p:sp>
      <p:sp>
        <p:nvSpPr>
          <p:cNvPr id="19" name="Hexagon 18"/>
          <p:cNvSpPr/>
          <p:nvPr/>
        </p:nvSpPr>
        <p:spPr>
          <a:xfrm>
            <a:off x="548640" y="3429000"/>
            <a:ext cx="1600200" cy="566928"/>
          </a:xfrm>
          <a:prstGeom prst="hexagon">
            <a:avLst>
              <a:gd name="adj" fmla="val 50000"/>
              <a:gd name="vf" fmla="val 115470"/>
            </a:avLst>
          </a:prstGeom>
          <a:solidFill>
            <a:srgbClr val="0B4DA2"/>
          </a:solidFill>
          <a:ln w="25400">
            <a:solidFill>
              <a:srgbClr val="0B4D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 wrap="square"/>
          <a:lstStyle/>
          <a:p>
            <a:pPr algn="ctr"/>
            <a:r>
              <a:rPr sz="1000" b="0">
                <a:solidFill>
                  <a:srgbClr val="FFFFFF"/>
                </a:solidFill>
                <a:latin typeface="Arial Black"/>
              </a:rPr>
              <a:t>Разложение</a:t>
            </a:r>
          </a:p>
        </p:txBody>
      </p:sp>
      <p:sp>
        <p:nvSpPr>
          <p:cNvPr id="20" name="Hexagon 19"/>
          <p:cNvSpPr/>
          <p:nvPr/>
        </p:nvSpPr>
        <p:spPr>
          <a:xfrm>
            <a:off x="2331720" y="3429000"/>
            <a:ext cx="1600200" cy="566928"/>
          </a:xfrm>
          <a:prstGeom prst="hexagon">
            <a:avLst>
              <a:gd name="adj" fmla="val 50000"/>
              <a:gd name="vf" fmla="val 115470"/>
            </a:avLst>
          </a:prstGeom>
          <a:solidFill>
            <a:srgbClr val="FBE3E1"/>
          </a:solidFill>
          <a:ln w="25400">
            <a:solidFill>
              <a:srgbClr val="E047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 wrap="square"/>
          <a:lstStyle/>
          <a:p>
            <a:pPr algn="ctr"/>
            <a:r>
              <a:rPr sz="1000" b="0">
                <a:solidFill>
                  <a:srgbClr val="111111"/>
                </a:solidFill>
                <a:latin typeface="Arial Black"/>
              </a:rPr>
              <a:t>Лин. уравнения</a:t>
            </a:r>
          </a:p>
        </p:txBody>
      </p:sp>
      <p:sp>
        <p:nvSpPr>
          <p:cNvPr id="21" name="Hexagon 20"/>
          <p:cNvSpPr/>
          <p:nvPr/>
        </p:nvSpPr>
        <p:spPr>
          <a:xfrm>
            <a:off x="4114800" y="3429000"/>
            <a:ext cx="1600200" cy="566928"/>
          </a:xfrm>
          <a:prstGeom prst="hexagon">
            <a:avLst>
              <a:gd name="adj" fmla="val 50000"/>
              <a:gd name="vf" fmla="val 115470"/>
            </a:avLst>
          </a:prstGeom>
          <a:solidFill>
            <a:srgbClr val="0B4DA2"/>
          </a:solidFill>
          <a:ln w="25400">
            <a:solidFill>
              <a:srgbClr val="0B4D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 wrap="square"/>
          <a:lstStyle/>
          <a:p>
            <a:pPr algn="ctr"/>
            <a:r>
              <a:rPr sz="1000" b="0">
                <a:solidFill>
                  <a:srgbClr val="FFFFFF"/>
                </a:solidFill>
                <a:latin typeface="Arial Black"/>
              </a:rPr>
              <a:t>Корни</a:t>
            </a:r>
          </a:p>
        </p:txBody>
      </p:sp>
      <p:sp>
        <p:nvSpPr>
          <p:cNvPr id="22" name="Hexagon 21"/>
          <p:cNvSpPr/>
          <p:nvPr/>
        </p:nvSpPr>
        <p:spPr>
          <a:xfrm>
            <a:off x="1417320" y="4526280"/>
            <a:ext cx="1600200" cy="566928"/>
          </a:xfrm>
          <a:prstGeom prst="hexagon">
            <a:avLst>
              <a:gd name="adj" fmla="val 50000"/>
              <a:gd name="vf" fmla="val 115470"/>
            </a:avLst>
          </a:prstGeom>
          <a:solidFill>
            <a:srgbClr val="0B4DA2"/>
          </a:solidFill>
          <a:ln w="25400">
            <a:solidFill>
              <a:srgbClr val="0B4D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 wrap="square"/>
          <a:lstStyle/>
          <a:p>
            <a:pPr algn="ctr"/>
            <a:r>
              <a:rPr sz="1000" b="0">
                <a:solidFill>
                  <a:srgbClr val="FFFFFF"/>
                </a:solidFill>
                <a:latin typeface="Arial Black"/>
              </a:rPr>
              <a:t>Выражения</a:t>
            </a:r>
          </a:p>
        </p:txBody>
      </p:sp>
      <p:sp>
        <p:nvSpPr>
          <p:cNvPr id="23" name="Hexagon 22"/>
          <p:cNvSpPr/>
          <p:nvPr/>
        </p:nvSpPr>
        <p:spPr>
          <a:xfrm>
            <a:off x="3246120" y="4526280"/>
            <a:ext cx="1600200" cy="566928"/>
          </a:xfrm>
          <a:prstGeom prst="hexagon">
            <a:avLst>
              <a:gd name="adj" fmla="val 50000"/>
              <a:gd name="vf" fmla="val 115470"/>
            </a:avLst>
          </a:prstGeom>
          <a:solidFill>
            <a:srgbClr val="E0473E"/>
          </a:solidFill>
          <a:ln w="25400">
            <a:solidFill>
              <a:srgbClr val="E047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 wrap="square"/>
          <a:lstStyle/>
          <a:p>
            <a:pPr algn="ctr"/>
            <a:r>
              <a:rPr sz="1000" b="0">
                <a:solidFill>
                  <a:srgbClr val="FFFFFF"/>
                </a:solidFill>
                <a:latin typeface="Arial Black"/>
              </a:rPr>
              <a:t>Дроби</a:t>
            </a:r>
          </a:p>
        </p:txBody>
      </p:sp>
      <p:sp>
        <p:nvSpPr>
          <p:cNvPr id="24" name="Hexagon 23"/>
          <p:cNvSpPr/>
          <p:nvPr/>
        </p:nvSpPr>
        <p:spPr>
          <a:xfrm>
            <a:off x="3246120" y="5623560"/>
            <a:ext cx="1600200" cy="566928"/>
          </a:xfrm>
          <a:prstGeom prst="hexagon">
            <a:avLst>
              <a:gd name="adj" fmla="val 50000"/>
              <a:gd name="vf" fmla="val 115470"/>
            </a:avLst>
          </a:prstGeom>
          <a:solidFill>
            <a:srgbClr val="B9CFEE"/>
          </a:solidFill>
          <a:ln w="25400">
            <a:solidFill>
              <a:srgbClr val="B9CF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 wrap="square"/>
          <a:lstStyle/>
          <a:p>
            <a:pPr algn="ctr"/>
            <a:r>
              <a:rPr sz="1000" b="0">
                <a:solidFill>
                  <a:srgbClr val="082F66"/>
                </a:solidFill>
                <a:latin typeface="Arial Black"/>
              </a:rPr>
              <a:t>Арифметика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635508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7A808A"/>
                </a:solidFill>
                <a:latin typeface="Arial Black"/>
              </a:rPr>
              <a:t>Синий — освоено, красный — пробел, насыщенный красный — корень</a:t>
            </a:r>
          </a:p>
        </p:txBody>
      </p:sp>
      <p:sp>
        <p:nvSpPr>
          <p:cNvPr id="26" name="Hexagon 25"/>
          <p:cNvSpPr/>
          <p:nvPr/>
        </p:nvSpPr>
        <p:spPr>
          <a:xfrm>
            <a:off x="6309360" y="2423160"/>
            <a:ext cx="384048" cy="332585"/>
          </a:xfrm>
          <a:prstGeom prst="hexagon">
            <a:avLst>
              <a:gd name="adj" fmla="val 28868"/>
              <a:gd name="vf" fmla="val 115470"/>
            </a:avLst>
          </a:prstGeom>
          <a:solidFill>
            <a:srgbClr val="0B4D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0" y="237744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111111"/>
                </a:solidFill>
                <a:latin typeface="Arial Black"/>
              </a:rPr>
              <a:t>Решил тему без ошибок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58000" y="2724912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A4F57"/>
                </a:solidFill>
                <a:latin typeface="Arial Black"/>
              </a:rPr>
              <a:t>всё, на чём она держится, засчитано без вопросов</a:t>
            </a:r>
          </a:p>
        </p:txBody>
      </p:sp>
      <p:sp>
        <p:nvSpPr>
          <p:cNvPr id="29" name="Hexagon 28"/>
          <p:cNvSpPr/>
          <p:nvPr/>
        </p:nvSpPr>
        <p:spPr>
          <a:xfrm>
            <a:off x="6309360" y="3227832"/>
            <a:ext cx="384048" cy="332585"/>
          </a:xfrm>
          <a:prstGeom prst="hexagon">
            <a:avLst>
              <a:gd name="adj" fmla="val 28868"/>
              <a:gd name="vf" fmla="val 115470"/>
            </a:avLst>
          </a:prstGeom>
          <a:solidFill>
            <a:srgbClr val="E047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858000" y="3182112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111111"/>
                </a:solidFill>
                <a:latin typeface="Arial Black"/>
              </a:rPr>
              <a:t>Ошибся дважды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58000" y="3529584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A4F57"/>
                </a:solidFill>
                <a:latin typeface="Arial Black"/>
              </a:rPr>
              <a:t>спускаемся к непроверенным пререквизитам</a:t>
            </a:r>
          </a:p>
        </p:txBody>
      </p:sp>
      <p:sp>
        <p:nvSpPr>
          <p:cNvPr id="32" name="Hexagon 31"/>
          <p:cNvSpPr/>
          <p:nvPr/>
        </p:nvSpPr>
        <p:spPr>
          <a:xfrm>
            <a:off x="6309360" y="4032504"/>
            <a:ext cx="384048" cy="332585"/>
          </a:xfrm>
          <a:prstGeom prst="hexagon">
            <a:avLst>
              <a:gd name="adj" fmla="val 28868"/>
              <a:gd name="vf" fmla="val 115470"/>
            </a:avLst>
          </a:prstGeom>
          <a:solidFill>
            <a:srgbClr val="5B8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858000" y="3986784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111111"/>
                </a:solidFill>
                <a:latin typeface="Arial Black"/>
              </a:rPr>
              <a:t>Неверный вариант с меткой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58000" y="4334256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A4F57"/>
                </a:solidFill>
                <a:latin typeface="Arial Black"/>
              </a:rPr>
              <a:t>сначала проверяем «домашнюю» тему этой ошибки</a:t>
            </a:r>
          </a:p>
        </p:txBody>
      </p:sp>
      <p:sp>
        <p:nvSpPr>
          <p:cNvPr id="35" name="Hexagon 34"/>
          <p:cNvSpPr/>
          <p:nvPr/>
        </p:nvSpPr>
        <p:spPr>
          <a:xfrm>
            <a:off x="6309360" y="4837176"/>
            <a:ext cx="384048" cy="332585"/>
          </a:xfrm>
          <a:prstGeom prst="hexagon">
            <a:avLst>
              <a:gd name="adj" fmla="val 28868"/>
              <a:gd name="vf" fmla="val 115470"/>
            </a:avLst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858000" y="4791456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111111"/>
                </a:solidFill>
                <a:latin typeface="Arial Black"/>
              </a:rPr>
              <a:t>Корень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858000" y="5138928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A4F57"/>
                </a:solidFill>
                <a:latin typeface="Arial Black"/>
              </a:rPr>
              <a:t>= пробел, под которым пробелов нет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309360" y="5669280"/>
            <a:ext cx="5303520" cy="868680"/>
          </a:xfrm>
          <a:prstGeom prst="rect">
            <a:avLst/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537960" y="5742432"/>
            <a:ext cx="49377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E0473E"/>
                </a:solidFill>
                <a:latin typeface="Arial Black"/>
              </a:rPr>
              <a:t>1/2 + 1/3 = 2/5</a:t>
            </a:r>
            <a:r>
              <a:rPr sz="1100" b="0" i="0">
                <a:solidFill>
                  <a:srgbClr val="111111"/>
                </a:solidFill>
                <a:latin typeface="Arial Black"/>
              </a:rPr>
              <a:t>  →  «складывает числители и знаменатели»</a:t>
            </a:r>
          </a:p>
          <a:p>
            <a:pPr algn="l"/>
            <a:r>
              <a:rPr sz="1100" b="0" i="0">
                <a:solidFill>
                  <a:srgbClr val="4A4F57"/>
                </a:solidFill>
                <a:latin typeface="Arial Black"/>
              </a:rPr>
              <a:t>Такой ответ сразу отправляет проверку в тему «Дроби».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Hexagon 1"/>
          <p:cNvSpPr/>
          <p:nvPr/>
        </p:nvSpPr>
        <p:spPr>
          <a:xfrm>
            <a:off x="274319" y="618317"/>
            <a:ext cx="7863840" cy="6810085"/>
          </a:xfrm>
          <a:prstGeom prst="hexagon">
            <a:avLst>
              <a:gd name="adj" fmla="val 28868"/>
              <a:gd name="vf" fmla="val 115470"/>
            </a:avLst>
          </a:prstGeom>
          <a:solidFill>
            <a:srgbClr val="B9CF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</a:p>
        </p:txBody>
      </p:sp>
      <p:sp>
        <p:nvSpPr>
          <p:cNvPr id="3" name="Hexagon 2"/>
          <p:cNvSpPr/>
          <p:nvPr/>
        </p:nvSpPr>
        <p:spPr>
          <a:xfrm>
            <a:off x="10317175" y="384048"/>
            <a:ext cx="384048" cy="332585"/>
          </a:xfrm>
          <a:prstGeom prst="hexagon">
            <a:avLst>
              <a:gd name="adj" fmla="val 28868"/>
              <a:gd name="vf" fmla="val 115470"/>
            </a:avLst>
          </a:prstGeom>
          <a:solidFill>
            <a:srgbClr val="0B4D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>
            <a:off x="10509199" y="438912"/>
            <a:ext cx="0" cy="82295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 flipH="1">
            <a:off x="10439704" y="521207"/>
            <a:ext cx="69495" cy="100585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0509199" y="521207"/>
            <a:ext cx="69494" cy="100585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0509199" y="521207"/>
            <a:ext cx="0" cy="100585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H="1" flipV="1">
            <a:off x="10454335" y="438912"/>
            <a:ext cx="54864" cy="36576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V="1">
            <a:off x="10509199" y="438912"/>
            <a:ext cx="54864" cy="36576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10792663" y="402336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 i="0">
                <a:solidFill>
                  <a:srgbClr val="0B4DA2"/>
                </a:solidFill>
                <a:latin typeface="Arial Black"/>
              </a:rPr>
              <a:t>Tamyr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86868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00" b="0" i="0">
                <a:solidFill>
                  <a:srgbClr val="0B4DA2"/>
                </a:solidFill>
                <a:latin typeface="Arial Black"/>
              </a:rPr>
              <a:t>ДЕМО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1618488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111111"/>
                </a:solidFill>
                <a:latin typeface="Arial Black"/>
              </a:rPr>
              <a:t>КАРТА ЗНАНИЙ УЧЕНИКА</a:t>
            </a:r>
          </a:p>
        </p:txBody>
      </p:sp>
      <p:pic>
        <p:nvPicPr>
          <p:cNvPr id="13" name="Picture 12" descr="demo.png"/>
          <p:cNvPicPr>
            <a:picLocks noChangeAspect="1"/>
          </p:cNvPicPr>
          <p:nvPr/>
        </p:nvPicPr>
        <p:blipFill>
          <a:blip r:embed="rId2"/>
          <a:srcRect b="20000"/>
          <a:stretch>
            <a:fillRect/>
          </a:stretch>
        </p:blipFill>
        <p:spPr>
          <a:xfrm>
            <a:off x="640080" y="2331720"/>
            <a:ext cx="6675120" cy="3708400"/>
          </a:xfrm>
          <a:prstGeom prst="rect">
            <a:avLst/>
          </a:prstGeom>
          <a:ln w="12700">
            <a:solidFill>
              <a:srgbClr val="D5DDE8"/>
            </a:solidFill>
          </a:ln>
        </p:spPr>
      </p:pic>
      <p:sp>
        <p:nvSpPr>
          <p:cNvPr id="14" name="Hexagon 13"/>
          <p:cNvSpPr/>
          <p:nvPr/>
        </p:nvSpPr>
        <p:spPr>
          <a:xfrm>
            <a:off x="7818120" y="2340864"/>
            <a:ext cx="274320" cy="237561"/>
          </a:xfrm>
          <a:prstGeom prst="hexagon">
            <a:avLst>
              <a:gd name="adj" fmla="val 28868"/>
              <a:gd name="vf" fmla="val 115470"/>
            </a:avLst>
          </a:prstGeom>
          <a:solidFill>
            <a:srgbClr val="0B4D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0" y="2286000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0B4DA2"/>
                </a:solidFill>
                <a:latin typeface="Arial Black"/>
              </a:rPr>
              <a:t>14 вопросов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0" y="2633472"/>
            <a:ext cx="34747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A4F57"/>
                </a:solidFill>
                <a:latin typeface="Arial Black"/>
              </a:rPr>
              <a:t>по теме «Квадратные уравнения» и всем её основам</a:t>
            </a:r>
          </a:p>
        </p:txBody>
      </p:sp>
      <p:sp>
        <p:nvSpPr>
          <p:cNvPr id="17" name="Hexagon 16"/>
          <p:cNvSpPr/>
          <p:nvPr/>
        </p:nvSpPr>
        <p:spPr>
          <a:xfrm>
            <a:off x="7818120" y="3236976"/>
            <a:ext cx="274320" cy="237561"/>
          </a:xfrm>
          <a:prstGeom prst="hexagon">
            <a:avLst>
              <a:gd name="adj" fmla="val 28868"/>
              <a:gd name="vf" fmla="val 115470"/>
            </a:avLst>
          </a:prstGeom>
          <a:solidFill>
            <a:srgbClr val="0B4D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0" y="3182112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0B4DA2"/>
                </a:solidFill>
                <a:latin typeface="Arial Black"/>
              </a:rPr>
              <a:t>Корень — «Дроби»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0" y="3529584"/>
            <a:ext cx="34747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A4F57"/>
                </a:solidFill>
                <a:latin typeface="Arial Black"/>
              </a:rPr>
              <a:t>хотя ошибки видны в квадратных и линейных уравнениях</a:t>
            </a:r>
          </a:p>
        </p:txBody>
      </p:sp>
      <p:sp>
        <p:nvSpPr>
          <p:cNvPr id="20" name="Hexagon 19"/>
          <p:cNvSpPr/>
          <p:nvPr/>
        </p:nvSpPr>
        <p:spPr>
          <a:xfrm>
            <a:off x="7818120" y="4133087"/>
            <a:ext cx="274320" cy="237561"/>
          </a:xfrm>
          <a:prstGeom prst="hexagon">
            <a:avLst>
              <a:gd name="adj" fmla="val 28868"/>
              <a:gd name="vf" fmla="val 115470"/>
            </a:avLst>
          </a:prstGeom>
          <a:solidFill>
            <a:srgbClr val="0B4D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0" y="4078224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0B4DA2"/>
                </a:solidFill>
                <a:latin typeface="Arial Black"/>
              </a:rPr>
              <a:t>Ошибки мышления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0" y="4425696"/>
            <a:ext cx="34747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A4F57"/>
                </a:solidFill>
                <a:latin typeface="Arial Black"/>
              </a:rPr>
              <a:t>по выбранным вариантам, с правилом исправления</a:t>
            </a:r>
          </a:p>
        </p:txBody>
      </p:sp>
      <p:sp>
        <p:nvSpPr>
          <p:cNvPr id="23" name="Hexagon 22"/>
          <p:cNvSpPr/>
          <p:nvPr/>
        </p:nvSpPr>
        <p:spPr>
          <a:xfrm>
            <a:off x="7818120" y="5029199"/>
            <a:ext cx="274320" cy="237561"/>
          </a:xfrm>
          <a:prstGeom prst="hexagon">
            <a:avLst>
              <a:gd name="adj" fmla="val 28868"/>
              <a:gd name="vf" fmla="val 115470"/>
            </a:avLst>
          </a:prstGeom>
          <a:solidFill>
            <a:srgbClr val="0B4D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0" y="4974336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0B4DA2"/>
                </a:solidFill>
                <a:latin typeface="Arial Black"/>
              </a:rPr>
              <a:t>План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0" y="5321807"/>
            <a:ext cx="34747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A4F57"/>
                </a:solidFill>
                <a:latin typeface="Arial Black"/>
              </a:rPr>
              <a:t>«Разобрать» → урок → 2 новые задачи → следующая тема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0" y="5989320"/>
            <a:ext cx="2834640" cy="411480"/>
          </a:xfrm>
          <a:prstGeom prst="rect">
            <a:avLst/>
          </a:prstGeom>
          <a:solidFill>
            <a:srgbClr val="0B4D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 wrap="square"/>
          <a:lstStyle/>
          <a:p>
            <a:pPr algn="ctr"/>
            <a:r>
              <a:rPr sz="1200" b="0">
                <a:solidFill>
                  <a:srgbClr val="FFFFFF"/>
                </a:solidFill>
                <a:latin typeface="Arial Black"/>
              </a:rPr>
              <a:t>Открыть: index.html#demo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Hexagon 1"/>
          <p:cNvSpPr/>
          <p:nvPr/>
        </p:nvSpPr>
        <p:spPr>
          <a:xfrm>
            <a:off x="4480559" y="709757"/>
            <a:ext cx="7863840" cy="6810085"/>
          </a:xfrm>
          <a:prstGeom prst="hexagon">
            <a:avLst>
              <a:gd name="adj" fmla="val 28868"/>
              <a:gd name="vf" fmla="val 115470"/>
            </a:avLst>
          </a:prstGeom>
          <a:solidFill>
            <a:srgbClr val="B9CF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</a:p>
        </p:txBody>
      </p:sp>
      <p:sp>
        <p:nvSpPr>
          <p:cNvPr id="3" name="Hexagon 2"/>
          <p:cNvSpPr/>
          <p:nvPr/>
        </p:nvSpPr>
        <p:spPr>
          <a:xfrm>
            <a:off x="548640" y="384048"/>
            <a:ext cx="384048" cy="332585"/>
          </a:xfrm>
          <a:prstGeom prst="hexagon">
            <a:avLst>
              <a:gd name="adj" fmla="val 28868"/>
              <a:gd name="vf" fmla="val 115470"/>
            </a:avLst>
          </a:prstGeom>
          <a:solidFill>
            <a:srgbClr val="0B4D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>
            <a:off x="740664" y="438912"/>
            <a:ext cx="0" cy="82295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 flipH="1">
            <a:off x="671169" y="521207"/>
            <a:ext cx="69495" cy="100585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740664" y="521207"/>
            <a:ext cx="69494" cy="100585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740664" y="521207"/>
            <a:ext cx="0" cy="100585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H="1" flipV="1">
            <a:off x="685800" y="438912"/>
            <a:ext cx="54864" cy="36576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V="1">
            <a:off x="740664" y="438912"/>
            <a:ext cx="54864" cy="36576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1024128" y="402336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 i="0">
                <a:solidFill>
                  <a:srgbClr val="0B4DA2"/>
                </a:solidFill>
                <a:latin typeface="Arial Black"/>
              </a:rPr>
              <a:t>Tamyr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868680"/>
            <a:ext cx="47548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00" b="0" i="0">
                <a:solidFill>
                  <a:srgbClr val="0B4DA2"/>
                </a:solidFill>
                <a:latin typeface="Arial Black"/>
              </a:rPr>
              <a:t>УЧИТЕЛЮ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1618488"/>
            <a:ext cx="47548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111111"/>
                </a:solidFill>
                <a:latin typeface="Arial Black"/>
              </a:rPr>
              <a:t>КОРНИ ВСЕГО КЛАССА</a:t>
            </a:r>
          </a:p>
        </p:txBody>
      </p:sp>
      <p:pic>
        <p:nvPicPr>
          <p:cNvPr id="13" name="Picture 12" descr="teacher.png"/>
          <p:cNvPicPr>
            <a:picLocks noChangeAspect="1"/>
          </p:cNvPicPr>
          <p:nvPr/>
        </p:nvPicPr>
        <p:blipFill>
          <a:blip r:embed="rId2"/>
          <a:srcRect b="12000"/>
          <a:stretch>
            <a:fillRect/>
          </a:stretch>
        </p:blipFill>
        <p:spPr>
          <a:xfrm>
            <a:off x="4892040" y="1234440"/>
            <a:ext cx="6675120" cy="4079240"/>
          </a:xfrm>
          <a:prstGeom prst="rect">
            <a:avLst/>
          </a:prstGeom>
          <a:ln w="12700">
            <a:solidFill>
              <a:srgbClr val="D5DDE8"/>
            </a:solidFill>
          </a:ln>
        </p:spPr>
      </p:pic>
      <p:sp>
        <p:nvSpPr>
          <p:cNvPr id="14" name="Hexagon 13"/>
          <p:cNvSpPr/>
          <p:nvPr/>
        </p:nvSpPr>
        <p:spPr>
          <a:xfrm>
            <a:off x="640080" y="2706624"/>
            <a:ext cx="274320" cy="237561"/>
          </a:xfrm>
          <a:prstGeom prst="hexagon">
            <a:avLst>
              <a:gd name="adj" fmla="val 28868"/>
              <a:gd name="vf" fmla="val 115470"/>
            </a:avLst>
          </a:prstGeom>
          <a:solidFill>
            <a:srgbClr val="0B4D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" y="2651760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0B4DA2"/>
                </a:solidFill>
                <a:latin typeface="Arial Black"/>
              </a:rPr>
              <a:t>Корневые пробелы класса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" y="2999232"/>
            <a:ext cx="35661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A4F57"/>
                </a:solidFill>
                <a:latin typeface="Arial Black"/>
              </a:rPr>
              <a:t>какие базовые темы тянут класс вниз</a:t>
            </a:r>
          </a:p>
        </p:txBody>
      </p:sp>
      <p:sp>
        <p:nvSpPr>
          <p:cNvPr id="17" name="Hexagon 16"/>
          <p:cNvSpPr/>
          <p:nvPr/>
        </p:nvSpPr>
        <p:spPr>
          <a:xfrm>
            <a:off x="640080" y="3529584"/>
            <a:ext cx="274320" cy="237561"/>
          </a:xfrm>
          <a:prstGeom prst="hexagon">
            <a:avLst>
              <a:gd name="adj" fmla="val 28868"/>
              <a:gd name="vf" fmla="val 115470"/>
            </a:avLst>
          </a:prstGeom>
          <a:solidFill>
            <a:srgbClr val="0B4D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51560" y="3474720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0B4DA2"/>
                </a:solidFill>
                <a:latin typeface="Arial Black"/>
              </a:rPr>
              <a:t>Мини-группы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1560" y="3822191"/>
            <a:ext cx="35661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A4F57"/>
                </a:solidFill>
                <a:latin typeface="Arial Black"/>
              </a:rPr>
              <a:t>кого с кем посадить на 15-минутный разбор</a:t>
            </a:r>
          </a:p>
        </p:txBody>
      </p:sp>
      <p:sp>
        <p:nvSpPr>
          <p:cNvPr id="20" name="Hexagon 19"/>
          <p:cNvSpPr/>
          <p:nvPr/>
        </p:nvSpPr>
        <p:spPr>
          <a:xfrm>
            <a:off x="640080" y="4352544"/>
            <a:ext cx="274320" cy="237561"/>
          </a:xfrm>
          <a:prstGeom prst="hexagon">
            <a:avLst>
              <a:gd name="adj" fmla="val 28868"/>
              <a:gd name="vf" fmla="val 115470"/>
            </a:avLst>
          </a:prstGeom>
          <a:solidFill>
            <a:srgbClr val="0B4D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51560" y="4297680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0B4DA2"/>
                </a:solidFill>
                <a:latin typeface="Arial Black"/>
              </a:rPr>
              <a:t>Тепловая карта и CSV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1560" y="4645152"/>
            <a:ext cx="35661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A4F57"/>
                </a:solidFill>
                <a:latin typeface="Arial Black"/>
              </a:rPr>
              <a:t>ученик × тема, выгрузка в Excel</a:t>
            </a:r>
          </a:p>
        </p:txBody>
      </p:sp>
      <p:sp>
        <p:nvSpPr>
          <p:cNvPr id="23" name="Hexagon 22"/>
          <p:cNvSpPr/>
          <p:nvPr/>
        </p:nvSpPr>
        <p:spPr>
          <a:xfrm>
            <a:off x="640080" y="5175503"/>
            <a:ext cx="274320" cy="237561"/>
          </a:xfrm>
          <a:prstGeom prst="hexagon">
            <a:avLst>
              <a:gd name="adj" fmla="val 28868"/>
              <a:gd name="vf" fmla="val 115470"/>
            </a:avLst>
          </a:prstGeom>
          <a:solidFill>
            <a:srgbClr val="0B4D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51560" y="5120640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0B4DA2"/>
                </a:solidFill>
                <a:latin typeface="Arial Black"/>
              </a:rPr>
              <a:t>Без сервера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51560" y="5468112"/>
            <a:ext cx="35661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A4F57"/>
                </a:solidFill>
                <a:latin typeface="Arial Black"/>
              </a:rPr>
              <a:t>ученик передаёт результат кодом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92040" y="6355080"/>
            <a:ext cx="6675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4A4F57"/>
                </a:solidFill>
                <a:latin typeface="Arial Black"/>
              </a:rPr>
              <a:t>Демо-класс: 24 виртуальных ученика (симуляция, не реальные данные).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Hexagon 1"/>
          <p:cNvSpPr/>
          <p:nvPr/>
        </p:nvSpPr>
        <p:spPr>
          <a:xfrm>
            <a:off x="10317175" y="384048"/>
            <a:ext cx="384048" cy="332585"/>
          </a:xfrm>
          <a:prstGeom prst="hexagon">
            <a:avLst>
              <a:gd name="adj" fmla="val 28868"/>
              <a:gd name="vf" fmla="val 115470"/>
            </a:avLst>
          </a:prstGeom>
          <a:solidFill>
            <a:srgbClr val="0B4D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10509199" y="438912"/>
            <a:ext cx="0" cy="82295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 flipH="1">
            <a:off x="10439704" y="521207"/>
            <a:ext cx="69495" cy="100585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10509199" y="521207"/>
            <a:ext cx="69494" cy="100585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0509199" y="521207"/>
            <a:ext cx="0" cy="100585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 flipH="1" flipV="1">
            <a:off x="10454335" y="438912"/>
            <a:ext cx="54864" cy="36576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V="1">
            <a:off x="10509199" y="438912"/>
            <a:ext cx="54864" cy="36576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0792663" y="402336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 i="0">
                <a:solidFill>
                  <a:srgbClr val="0B4DA2"/>
                </a:solidFill>
                <a:latin typeface="Arial Black"/>
              </a:rPr>
              <a:t>Tamyr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86868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00" b="0" i="0">
                <a:solidFill>
                  <a:srgbClr val="0B4DA2"/>
                </a:solidFill>
                <a:latin typeface="Arial Black"/>
              </a:rPr>
              <a:t>КОНКУРЕНТЫ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1618488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111111"/>
                </a:solidFill>
                <a:latin typeface="Arial Black"/>
              </a:rPr>
              <a:t>ИДЕЯ НЕ НОВАЯ — НОВОЕ В СВЯЗКЕ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63240" y="2240280"/>
            <a:ext cx="3931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7A808A"/>
                </a:solidFill>
                <a:latin typeface="Arial Black"/>
              </a:rPr>
              <a:t>ЧТО ДЕЛАЕТ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0" y="2240280"/>
            <a:ext cx="4206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0B4DA2"/>
                </a:solidFill>
                <a:latin typeface="Arial Black"/>
              </a:rPr>
              <a:t>ЧЕМ ОТЛИЧАЕТСЯ TAMYR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2560320"/>
            <a:ext cx="1088136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</a:p>
        </p:txBody>
      </p:sp>
      <p:sp>
        <p:nvSpPr>
          <p:cNvPr id="15" name="Hexagon 14"/>
          <p:cNvSpPr/>
          <p:nvPr/>
        </p:nvSpPr>
        <p:spPr>
          <a:xfrm>
            <a:off x="822960" y="2779776"/>
            <a:ext cx="310896" cy="269235"/>
          </a:xfrm>
          <a:prstGeom prst="hexagon">
            <a:avLst>
              <a:gd name="adj" fmla="val 28868"/>
              <a:gd name="vf" fmla="val 115470"/>
            </a:avLst>
          </a:prstGeom>
          <a:solidFill>
            <a:srgbClr val="0B4D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80160" y="2651760"/>
            <a:ext cx="1737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111111"/>
                </a:solidFill>
                <a:latin typeface="Arial Black"/>
              </a:rPr>
              <a:t>ALEKS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80160" y="2962656"/>
            <a:ext cx="1737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7A808A"/>
                </a:solidFill>
                <a:latin typeface="Arial Black"/>
              </a:rPr>
              <a:t>McGraw Hill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63240" y="2615184"/>
            <a:ext cx="402336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4A4F57"/>
                </a:solidFill>
                <a:latin typeface="Arial Black"/>
              </a:rPr>
              <a:t>Адаптивная оценка по «пространству знаний». Платная, программы США.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178040" y="2560320"/>
            <a:ext cx="4343400" cy="713232"/>
          </a:xfrm>
          <a:prstGeom prst="rect">
            <a:avLst/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0" y="2615184"/>
            <a:ext cx="411480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0B4DA2"/>
                </a:solidFill>
                <a:latin typeface="Arial Black"/>
              </a:rPr>
              <a:t>Программа и формат ЕНТ, бесплатно для ученика, офлайн без регистрации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3364991"/>
            <a:ext cx="1088136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</a:p>
        </p:txBody>
      </p:sp>
      <p:sp>
        <p:nvSpPr>
          <p:cNvPr id="22" name="Hexagon 21"/>
          <p:cNvSpPr/>
          <p:nvPr/>
        </p:nvSpPr>
        <p:spPr>
          <a:xfrm>
            <a:off x="822960" y="3584448"/>
            <a:ext cx="310896" cy="269235"/>
          </a:xfrm>
          <a:prstGeom prst="hexagon">
            <a:avLst>
              <a:gd name="adj" fmla="val 28868"/>
              <a:gd name="vf" fmla="val 115470"/>
            </a:avLst>
          </a:prstGeom>
          <a:solidFill>
            <a:srgbClr val="0B4D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280160" y="3456432"/>
            <a:ext cx="1737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111111"/>
                </a:solidFill>
                <a:latin typeface="Arial Black"/>
              </a:rPr>
              <a:t>Eedi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80160" y="3767328"/>
            <a:ext cx="1737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7A808A"/>
                </a:solidFill>
                <a:latin typeface="Arial Black"/>
              </a:rPr>
              <a:t>Великобритания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063240" y="3419856"/>
            <a:ext cx="402336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4A4F57"/>
                </a:solidFill>
                <a:latin typeface="Arial Black"/>
              </a:rPr>
              <a:t>Диагностические вопросы: неверный вариант указывает на ошибку мышления.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178040" y="3364991"/>
            <a:ext cx="4343400" cy="713232"/>
          </a:xfrm>
          <a:prstGeom prst="rect">
            <a:avLst/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15200" y="3419856"/>
            <a:ext cx="411480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0B4DA2"/>
                </a:solidFill>
                <a:latin typeface="Arial Black"/>
              </a:rPr>
              <a:t>Метка ошибки сразу ведёт в её домашнюю тему и дальше вниз, к корню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0080" y="4169663"/>
            <a:ext cx="1088136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</a:p>
        </p:txBody>
      </p:sp>
      <p:sp>
        <p:nvSpPr>
          <p:cNvPr id="29" name="Hexagon 28"/>
          <p:cNvSpPr/>
          <p:nvPr/>
        </p:nvSpPr>
        <p:spPr>
          <a:xfrm>
            <a:off x="822960" y="4389120"/>
            <a:ext cx="310896" cy="269235"/>
          </a:xfrm>
          <a:prstGeom prst="hexagon">
            <a:avLst>
              <a:gd name="adj" fmla="val 28868"/>
              <a:gd name="vf" fmla="val 115470"/>
            </a:avLst>
          </a:prstGeom>
          <a:solidFill>
            <a:srgbClr val="0B4D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280160" y="4261103"/>
            <a:ext cx="1737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111111"/>
                </a:solidFill>
                <a:latin typeface="Arial Black"/>
              </a:rPr>
              <a:t>Khan Academy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80160" y="4572000"/>
            <a:ext cx="1737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7A808A"/>
                </a:solidFill>
                <a:latin typeface="Arial Black"/>
              </a:rPr>
              <a:t>США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063240" y="4224527"/>
            <a:ext cx="402336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4A4F57"/>
                </a:solidFill>
                <a:latin typeface="Arial Black"/>
              </a:rPr>
              <a:t>Бесплатные курсы и система освоения по темам.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178040" y="4169663"/>
            <a:ext cx="4343400" cy="713232"/>
          </a:xfrm>
          <a:prstGeom prst="rect">
            <a:avLst/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315200" y="4224527"/>
            <a:ext cx="411480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0B4DA2"/>
                </a:solidFill>
                <a:latin typeface="Arial Black"/>
              </a:rPr>
              <a:t>Не курс, а 10–20 минут диагностики: с чего начать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40080" y="4974336"/>
            <a:ext cx="1088136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</a:p>
        </p:txBody>
      </p:sp>
      <p:sp>
        <p:nvSpPr>
          <p:cNvPr id="36" name="Hexagon 35"/>
          <p:cNvSpPr/>
          <p:nvPr/>
        </p:nvSpPr>
        <p:spPr>
          <a:xfrm>
            <a:off x="822960" y="5193792"/>
            <a:ext cx="310896" cy="269235"/>
          </a:xfrm>
          <a:prstGeom prst="hexagon">
            <a:avLst>
              <a:gd name="adj" fmla="val 28868"/>
              <a:gd name="vf" fmla="val 115470"/>
            </a:avLst>
          </a:prstGeom>
          <a:solidFill>
            <a:srgbClr val="0B4D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280160" y="5065775"/>
            <a:ext cx="1737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111111"/>
                </a:solidFill>
                <a:latin typeface="Arial Black"/>
              </a:rPr>
              <a:t>Пробники ЕНТ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280160" y="5376672"/>
            <a:ext cx="1737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7A808A"/>
                </a:solidFill>
                <a:latin typeface="Arial Black"/>
              </a:rPr>
              <a:t>Казахстан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063240" y="5029199"/>
            <a:ext cx="402336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4A4F57"/>
                </a:solidFill>
                <a:latin typeface="Arial Black"/>
              </a:rPr>
              <a:t>Балл и разбор по темам, где произошла ошибка.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178040" y="4974336"/>
            <a:ext cx="4343400" cy="713232"/>
          </a:xfrm>
          <a:prstGeom prst="rect">
            <a:avLst/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315200" y="5029199"/>
            <a:ext cx="411480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0B4DA2"/>
                </a:solidFill>
                <a:latin typeface="Arial Black"/>
              </a:rPr>
              <a:t>Причина, а не балл; учителю — корни класса и группы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40080" y="5897880"/>
            <a:ext cx="10881360" cy="457200"/>
          </a:xfrm>
          <a:prstGeom prst="rect">
            <a:avLst/>
          </a:prstGeom>
          <a:solidFill>
            <a:srgbClr val="0B4D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 wrap="square"/>
          <a:lstStyle/>
          <a:p>
            <a:pPr algn="ctr"/>
            <a:r>
              <a:rPr sz="1200" b="0">
                <a:solidFill>
                  <a:srgbClr val="FFFFFF"/>
                </a:solidFill>
                <a:latin typeface="Arial Black"/>
              </a:rPr>
              <a:t>Неверный вариант → домашняя тема ошибки → проверка корня  ·  под ЕНТ, офлайн, с панелью учителя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Hexagon 1"/>
          <p:cNvSpPr/>
          <p:nvPr/>
        </p:nvSpPr>
        <p:spPr>
          <a:xfrm>
            <a:off x="10317175" y="384048"/>
            <a:ext cx="384048" cy="332585"/>
          </a:xfrm>
          <a:prstGeom prst="hexagon">
            <a:avLst>
              <a:gd name="adj" fmla="val 28868"/>
              <a:gd name="vf" fmla="val 115470"/>
            </a:avLst>
          </a:prstGeom>
          <a:solidFill>
            <a:srgbClr val="0B4D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10509199" y="438912"/>
            <a:ext cx="0" cy="82295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 flipH="1">
            <a:off x="10439704" y="521207"/>
            <a:ext cx="69495" cy="100585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10509199" y="521207"/>
            <a:ext cx="69494" cy="100585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0509199" y="521207"/>
            <a:ext cx="0" cy="100585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 flipH="1" flipV="1">
            <a:off x="10454335" y="438912"/>
            <a:ext cx="54864" cy="36576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V="1">
            <a:off x="10509199" y="438912"/>
            <a:ext cx="54864" cy="36576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0792663" y="402336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 i="0">
                <a:solidFill>
                  <a:srgbClr val="0B4DA2"/>
                </a:solidFill>
                <a:latin typeface="Arial Black"/>
              </a:rPr>
              <a:t>Tamyr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86868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00" b="0" i="0">
                <a:solidFill>
                  <a:srgbClr val="0B4DA2"/>
                </a:solidFill>
                <a:latin typeface="Arial Black"/>
              </a:rPr>
              <a:t>ВАЛИДАЦИЯ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1618488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111111"/>
                </a:solidFill>
                <a:latin typeface="Arial Black"/>
              </a:rPr>
              <a:t>ЧТО УЖЕ ПРОВЕРЕНО</a:t>
            </a:r>
          </a:p>
        </p:txBody>
      </p:sp>
      <p:sp>
        <p:nvSpPr>
          <p:cNvPr id="12" name="Hexagon 11"/>
          <p:cNvSpPr/>
          <p:nvPr/>
        </p:nvSpPr>
        <p:spPr>
          <a:xfrm>
            <a:off x="777240" y="2240280"/>
            <a:ext cx="2240280" cy="1940082"/>
          </a:xfrm>
          <a:prstGeom prst="hexagon">
            <a:avLst>
              <a:gd name="adj" fmla="val 28868"/>
              <a:gd name="vf" fmla="val 115470"/>
            </a:avLst>
          </a:prstGeom>
          <a:solidFill>
            <a:srgbClr val="FFFFFF"/>
          </a:solidFill>
          <a:ln w="38100">
            <a:solidFill>
              <a:srgbClr val="0B4D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 wrap="square"/>
          <a:lstStyle/>
          <a:p>
            <a:pPr algn="ctr"/>
            <a:r>
              <a:rPr sz="2800" b="0">
                <a:solidFill>
                  <a:srgbClr val="0B4DA2"/>
                </a:solidFill>
                <a:latin typeface="Arial Black"/>
              </a:rPr>
              <a:t>79%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251960"/>
            <a:ext cx="25146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4A4F57"/>
                </a:solidFill>
                <a:latin typeface="Arial Black"/>
              </a:rPr>
              <a:t>настоящих корней найдено
(полнота)</a:t>
            </a:r>
          </a:p>
        </p:txBody>
      </p:sp>
      <p:sp>
        <p:nvSpPr>
          <p:cNvPr id="14" name="Hexagon 13"/>
          <p:cNvSpPr/>
          <p:nvPr/>
        </p:nvSpPr>
        <p:spPr>
          <a:xfrm>
            <a:off x="3566160" y="2240280"/>
            <a:ext cx="2240280" cy="1940082"/>
          </a:xfrm>
          <a:prstGeom prst="hexagon">
            <a:avLst>
              <a:gd name="adj" fmla="val 28868"/>
              <a:gd name="vf" fmla="val 115470"/>
            </a:avLst>
          </a:prstGeom>
          <a:solidFill>
            <a:srgbClr val="FFFFFF"/>
          </a:solidFill>
          <a:ln w="38100">
            <a:solidFill>
              <a:srgbClr val="0B4D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 wrap="square"/>
          <a:lstStyle/>
          <a:p>
            <a:pPr algn="ctr"/>
            <a:r>
              <a:rPr sz="2800" b="0">
                <a:solidFill>
                  <a:srgbClr val="0B4DA2"/>
                </a:solidFill>
                <a:latin typeface="Arial Black"/>
              </a:rPr>
              <a:t>72%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9000" y="4251960"/>
            <a:ext cx="25146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4A4F57"/>
                </a:solidFill>
                <a:latin typeface="Arial Black"/>
              </a:rPr>
              <a:t>найденных корней верны
(точность)</a:t>
            </a:r>
          </a:p>
        </p:txBody>
      </p:sp>
      <p:sp>
        <p:nvSpPr>
          <p:cNvPr id="16" name="Hexagon 15"/>
          <p:cNvSpPr/>
          <p:nvPr/>
        </p:nvSpPr>
        <p:spPr>
          <a:xfrm>
            <a:off x="6355079" y="2240280"/>
            <a:ext cx="2240280" cy="1940082"/>
          </a:xfrm>
          <a:prstGeom prst="hexagon">
            <a:avLst>
              <a:gd name="adj" fmla="val 28868"/>
              <a:gd name="vf" fmla="val 115470"/>
            </a:avLst>
          </a:prstGeom>
          <a:solidFill>
            <a:srgbClr val="FFFFFF"/>
          </a:solidFill>
          <a:ln w="38100">
            <a:solidFill>
              <a:srgbClr val="0B4D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 wrap="square"/>
          <a:lstStyle/>
          <a:p>
            <a:pPr algn="ctr"/>
            <a:r>
              <a:rPr sz="2800" b="0">
                <a:solidFill>
                  <a:srgbClr val="0B4DA2"/>
                </a:solidFill>
                <a:latin typeface="Arial Black"/>
              </a:rPr>
              <a:t>9 / 28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17919" y="4251960"/>
            <a:ext cx="25146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4A4F57"/>
                </a:solidFill>
                <a:latin typeface="Arial Black"/>
              </a:rPr>
              <a:t>вопросов: без пробелов /
с одним пробелом</a:t>
            </a:r>
          </a:p>
        </p:txBody>
      </p:sp>
      <p:sp>
        <p:nvSpPr>
          <p:cNvPr id="18" name="Hexagon 17"/>
          <p:cNvSpPr/>
          <p:nvPr/>
        </p:nvSpPr>
        <p:spPr>
          <a:xfrm>
            <a:off x="9143999" y="2240280"/>
            <a:ext cx="2240280" cy="1940082"/>
          </a:xfrm>
          <a:prstGeom prst="hexagon">
            <a:avLst>
              <a:gd name="adj" fmla="val 28868"/>
              <a:gd name="vf" fmla="val 115470"/>
            </a:avLst>
          </a:prstGeom>
          <a:solidFill>
            <a:srgbClr val="FFFFFF"/>
          </a:solidFill>
          <a:ln w="38100">
            <a:solidFill>
              <a:srgbClr val="0B4D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 wrap="square"/>
          <a:lstStyle/>
          <a:p>
            <a:pPr algn="ctr"/>
            <a:r>
              <a:rPr sz="2800" b="0">
                <a:solidFill>
                  <a:srgbClr val="0B4DA2"/>
                </a:solidFill>
                <a:latin typeface="Arial Black"/>
              </a:rPr>
              <a:t>16/16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06839" y="4251960"/>
            <a:ext cx="25146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4A4F57"/>
                </a:solidFill>
                <a:latin typeface="Arial Black"/>
              </a:rPr>
              <a:t>юнит-тестов
проходят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4983480"/>
            <a:ext cx="108813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7A808A"/>
                </a:solidFill>
                <a:latin typeface="Arial Black"/>
              </a:rPr>
              <a:t>Контрольная симуляция: 1000 новых виртуальных учеников с известными пробелами, не использованных при доработке движка. Модель ученика наша, поэтому это оценка сверху; без шума алгоритм находит 100% корней.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5577840"/>
            <a:ext cx="10881360" cy="777240"/>
          </a:xfrm>
          <a:prstGeom prst="rect">
            <a:avLst/>
          </a:prstGeom>
          <a:solidFill>
            <a:srgbClr val="EAF1FB"/>
          </a:solidFill>
          <a:ln w="19050">
            <a:solidFill>
              <a:srgbClr val="0B4DA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68680" y="5650992"/>
            <a:ext cx="104241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0B4DA2"/>
                </a:solidFill>
                <a:latin typeface="Arial Black"/>
              </a:rPr>
              <a:t>Проверка на людях — заполните реальными данными: </a:t>
            </a:r>
            <a:r>
              <a:rPr sz="1100" b="0" i="0">
                <a:solidFill>
                  <a:srgbClr val="111111"/>
                </a:solidFill>
                <a:latin typeface="Arial Black"/>
              </a:rPr>
              <a:t>опрос учеников (n = __), интервью с учителями (__ чел.), мини-пилот: совпадение корня с мнением учителя __ из __. Шаблоны: docs/validation-plan.md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Hexagon 1"/>
          <p:cNvSpPr/>
          <p:nvPr/>
        </p:nvSpPr>
        <p:spPr>
          <a:xfrm>
            <a:off x="10317175" y="384048"/>
            <a:ext cx="384048" cy="332585"/>
          </a:xfrm>
          <a:prstGeom prst="hexagon">
            <a:avLst>
              <a:gd name="adj" fmla="val 28868"/>
              <a:gd name="vf" fmla="val 115470"/>
            </a:avLst>
          </a:prstGeom>
          <a:solidFill>
            <a:srgbClr val="0B4D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10509199" y="438912"/>
            <a:ext cx="0" cy="82295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 flipH="1">
            <a:off x="10439704" y="521207"/>
            <a:ext cx="69495" cy="100585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10509199" y="521207"/>
            <a:ext cx="69494" cy="100585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0509199" y="521207"/>
            <a:ext cx="0" cy="100585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 flipH="1" flipV="1">
            <a:off x="10454335" y="438912"/>
            <a:ext cx="54864" cy="36576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V="1">
            <a:off x="10509199" y="438912"/>
            <a:ext cx="54864" cy="36576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0792663" y="402336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 i="0">
                <a:solidFill>
                  <a:srgbClr val="0B4DA2"/>
                </a:solidFill>
                <a:latin typeface="Arial Black"/>
              </a:rPr>
              <a:t>Tamyr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86868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00" b="0" i="0">
                <a:solidFill>
                  <a:srgbClr val="0B4DA2"/>
                </a:solidFill>
                <a:latin typeface="Arial Black"/>
              </a:rPr>
              <a:t>ВНЕДРЕНИЕ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1618488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111111"/>
                </a:solidFill>
                <a:latin typeface="Arial Black"/>
              </a:rPr>
              <a:t>РЕАЛИЗУЕМО УЖЕ СЕЙЧАС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2743200"/>
            <a:ext cx="3474720" cy="3429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</a:p>
        </p:txBody>
      </p:sp>
      <p:sp>
        <p:nvSpPr>
          <p:cNvPr id="13" name="Hexagon 12"/>
          <p:cNvSpPr/>
          <p:nvPr/>
        </p:nvSpPr>
        <p:spPr>
          <a:xfrm>
            <a:off x="914400" y="2395728"/>
            <a:ext cx="731520" cy="633496"/>
          </a:xfrm>
          <a:prstGeom prst="hexagon">
            <a:avLst>
              <a:gd name="adj" fmla="val 28868"/>
              <a:gd name="vf" fmla="val 115470"/>
            </a:avLst>
          </a:prstGeom>
          <a:solidFill>
            <a:srgbClr val="0B4DA2"/>
          </a:solidFill>
          <a:ln w="381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</a:p>
        </p:txBody>
      </p:sp>
      <p:cxnSp>
        <p:nvCxnSpPr>
          <p:cNvPr id="14" name="Connector 13"/>
          <p:cNvCxnSpPr/>
          <p:nvPr/>
        </p:nvCxnSpPr>
        <p:spPr>
          <a:xfrm>
            <a:off x="1280160" y="2551176"/>
            <a:ext cx="0" cy="139903"/>
          </a:xfrm>
          <a:prstGeom prst="line">
            <a:avLst/>
          </a:prstGeom>
          <a:ln w="190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H="1">
            <a:off x="1162019" y="2691079"/>
            <a:ext cx="118141" cy="170993"/>
          </a:xfrm>
          <a:prstGeom prst="line">
            <a:avLst/>
          </a:prstGeom>
          <a:ln w="190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1280160" y="2691079"/>
            <a:ext cx="118140" cy="170993"/>
          </a:xfrm>
          <a:prstGeom prst="line">
            <a:avLst/>
          </a:prstGeom>
          <a:ln w="190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1280160" y="2691079"/>
            <a:ext cx="0" cy="170993"/>
          </a:xfrm>
          <a:prstGeom prst="line">
            <a:avLst/>
          </a:prstGeom>
          <a:ln w="190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H="1" flipV="1">
            <a:off x="1186891" y="2551176"/>
            <a:ext cx="93269" cy="62179"/>
          </a:xfrm>
          <a:prstGeom prst="line">
            <a:avLst/>
          </a:prstGeom>
          <a:ln w="190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V="1">
            <a:off x="1280160" y="2551176"/>
            <a:ext cx="93268" cy="62179"/>
          </a:xfrm>
          <a:prstGeom prst="line">
            <a:avLst/>
          </a:prstGeom>
          <a:ln w="190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914400" y="3291840"/>
            <a:ext cx="29260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0B4DA2"/>
                </a:solidFill>
                <a:latin typeface="Arial Black"/>
              </a:rPr>
              <a:t>Технологии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3794760"/>
            <a:ext cx="297180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01168" indent="-201168">
              <a:spcAft>
                <a:spcPts val="800"/>
              </a:spcAft>
              <a:buChar char="•"/>
            </a:pPr>
            <a:r>
              <a:rPr sz="1200" b="0" i="0">
                <a:solidFill>
                  <a:srgbClr val="4A4F57"/>
                </a:solidFill>
                <a:latin typeface="Arial Black"/>
              </a:rPr>
              <a:t>HTML/CSS/JS без зависимостей</a:t>
            </a:r>
          </a:p>
          <a:p>
            <a:pPr algn="l" marL="201168" indent="-201168">
              <a:spcAft>
                <a:spcPts val="800"/>
              </a:spcAft>
              <a:buChar char="•"/>
            </a:pPr>
            <a:r>
              <a:rPr sz="1200" b="0" i="0">
                <a:solidFill>
                  <a:srgbClr val="4A4F57"/>
                </a:solidFill>
                <a:latin typeface="Arial Black"/>
              </a:rPr>
              <a:t>Работает офлайн на любом телефоне</a:t>
            </a:r>
          </a:p>
          <a:p>
            <a:pPr algn="l" marL="201168" indent="-201168">
              <a:spcAft>
                <a:spcPts val="800"/>
              </a:spcAft>
              <a:buChar char="•"/>
            </a:pPr>
            <a:r>
              <a:rPr sz="1200" b="0" i="0">
                <a:solidFill>
                  <a:srgbClr val="4A4F57"/>
                </a:solidFill>
                <a:latin typeface="Arial Black"/>
              </a:rPr>
              <a:t>Граф и банк заданий — данные: новый предмет = новый файл</a:t>
            </a:r>
          </a:p>
          <a:p>
            <a:pPr algn="l" marL="201168" indent="-201168">
              <a:spcAft>
                <a:spcPts val="800"/>
              </a:spcAft>
              <a:buChar char="•"/>
            </a:pPr>
            <a:r>
              <a:rPr sz="1200" b="0" i="0">
                <a:solidFill>
                  <a:srgbClr val="4A4F57"/>
                </a:solidFill>
                <a:latin typeface="Arial Black"/>
              </a:rPr>
              <a:t>Персональные данные остаются на устройстве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120" y="2743200"/>
            <a:ext cx="3474720" cy="3429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</a:p>
        </p:txBody>
      </p:sp>
      <p:sp>
        <p:nvSpPr>
          <p:cNvPr id="23" name="Hexagon 22"/>
          <p:cNvSpPr/>
          <p:nvPr/>
        </p:nvSpPr>
        <p:spPr>
          <a:xfrm>
            <a:off x="4663440" y="2395728"/>
            <a:ext cx="731520" cy="633496"/>
          </a:xfrm>
          <a:prstGeom prst="hexagon">
            <a:avLst>
              <a:gd name="adj" fmla="val 28868"/>
              <a:gd name="vf" fmla="val 115470"/>
            </a:avLst>
          </a:prstGeom>
          <a:solidFill>
            <a:srgbClr val="0B4DA2"/>
          </a:solidFill>
          <a:ln w="381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 wrap="square"/>
          <a:lstStyle/>
          <a:p>
            <a:pPr algn="ctr"/>
            <a:r>
              <a:rPr sz="2200" b="0">
                <a:solidFill>
                  <a:srgbClr val="FFFFFF"/>
                </a:solidFill>
                <a:latin typeface="Arial Black"/>
              </a:rPr>
              <a:t>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63440" y="3291840"/>
            <a:ext cx="29260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0B4DA2"/>
                </a:solidFill>
                <a:latin typeface="Arial Black"/>
              </a:rPr>
              <a:t>Кому и за сколько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63440" y="3794760"/>
            <a:ext cx="297180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01168" indent="-201168">
              <a:spcAft>
                <a:spcPts val="800"/>
              </a:spcAft>
              <a:buChar char="•"/>
            </a:pPr>
            <a:r>
              <a:rPr sz="1200" b="0" i="0">
                <a:solidFill>
                  <a:srgbClr val="4A4F57"/>
                </a:solidFill>
                <a:latin typeface="Arial Black"/>
              </a:rPr>
              <a:t>Ученикам: бесплатная диагностика, платные банки (геометрия, мат. грамотность)</a:t>
            </a:r>
          </a:p>
          <a:p>
            <a:pPr algn="l" marL="201168" indent="-201168">
              <a:spcAft>
                <a:spcPts val="800"/>
              </a:spcAft>
              <a:buChar char="•"/>
            </a:pPr>
            <a:r>
              <a:rPr sz="1200" b="0" i="0">
                <a:solidFill>
                  <a:srgbClr val="4A4F57"/>
                </a:solidFill>
                <a:latin typeface="Arial Black"/>
              </a:rPr>
              <a:t>Школам: панель учителя, подписка за класс</a:t>
            </a:r>
          </a:p>
          <a:p>
            <a:pPr algn="l" marL="201168" indent="-201168">
              <a:spcAft>
                <a:spcPts val="800"/>
              </a:spcAft>
              <a:buChar char="•"/>
            </a:pPr>
            <a:r>
              <a:rPr sz="1200" b="0" i="0">
                <a:solidFill>
                  <a:srgbClr val="4A4F57"/>
                </a:solidFill>
                <a:latin typeface="Arial Black"/>
              </a:rPr>
              <a:t>Учебным центрам: входная диагностика новых учеников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138159" y="2743200"/>
            <a:ext cx="3474720" cy="3429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</a:p>
        </p:txBody>
      </p:sp>
      <p:sp>
        <p:nvSpPr>
          <p:cNvPr id="27" name="Hexagon 26"/>
          <p:cNvSpPr/>
          <p:nvPr/>
        </p:nvSpPr>
        <p:spPr>
          <a:xfrm>
            <a:off x="8412480" y="2395728"/>
            <a:ext cx="731520" cy="633496"/>
          </a:xfrm>
          <a:prstGeom prst="hexagon">
            <a:avLst>
              <a:gd name="adj" fmla="val 28868"/>
              <a:gd name="vf" fmla="val 115470"/>
            </a:avLst>
          </a:prstGeom>
          <a:solidFill>
            <a:srgbClr val="0B4DA2"/>
          </a:solidFill>
          <a:ln w="381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 wrap="square"/>
          <a:lstStyle/>
          <a:p>
            <a:pPr algn="ctr"/>
            <a:r>
              <a:rPr sz="2200" b="0">
                <a:solidFill>
                  <a:srgbClr val="FFFFFF"/>
                </a:solidFill>
                <a:latin typeface="Arial Black"/>
              </a:rPr>
              <a:t>✓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12480" y="3291840"/>
            <a:ext cx="29260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0B4DA2"/>
                </a:solidFill>
                <a:latin typeface="Arial Black"/>
              </a:rPr>
              <a:t>Для запуска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12480" y="3794760"/>
            <a:ext cx="297180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01168" indent="-201168">
              <a:spcAft>
                <a:spcPts val="800"/>
              </a:spcAft>
              <a:buChar char="•"/>
            </a:pPr>
            <a:r>
              <a:rPr sz="1200" b="0" i="0">
                <a:solidFill>
                  <a:srgbClr val="4A4F57"/>
                </a:solidFill>
                <a:latin typeface="Arial Black"/>
              </a:rPr>
              <a:t>Проверка графа 2–3 учителями</a:t>
            </a:r>
          </a:p>
          <a:p>
            <a:pPr algn="l" marL="201168" indent="-201168">
              <a:spcAft>
                <a:spcPts val="800"/>
              </a:spcAft>
              <a:buChar char="•"/>
            </a:pPr>
            <a:r>
              <a:rPr sz="1200" b="0" i="0">
                <a:solidFill>
                  <a:srgbClr val="4A4F57"/>
                </a:solidFill>
                <a:latin typeface="Arial Black"/>
              </a:rPr>
              <a:t>Банк 10+ вопросов на тему</a:t>
            </a:r>
          </a:p>
          <a:p>
            <a:pPr algn="l" marL="201168" indent="-201168">
              <a:spcAft>
                <a:spcPts val="800"/>
              </a:spcAft>
              <a:buChar char="•"/>
            </a:pPr>
            <a:r>
              <a:rPr sz="1200" b="0" i="0">
                <a:solidFill>
                  <a:srgbClr val="4A4F57"/>
                </a:solidFill>
                <a:latin typeface="Arial Black"/>
              </a:rPr>
              <a:t>Казахская версия</a:t>
            </a:r>
          </a:p>
          <a:p>
            <a:pPr algn="l" marL="201168" indent="-201168">
              <a:spcAft>
                <a:spcPts val="800"/>
              </a:spcAft>
              <a:buChar char="•"/>
            </a:pPr>
            <a:r>
              <a:rPr sz="1200" b="0" i="0">
                <a:solidFill>
                  <a:srgbClr val="4A4F57"/>
                </a:solidFill>
                <a:latin typeface="Arial Black"/>
              </a:rPr>
              <a:t>Пилот в 2–3 классах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528255" y="6355080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7A808A"/>
                </a:solidFill>
                <a:latin typeface="Arial Black"/>
              </a:rPr>
              <a:t>VentureHack 2026  ·  Трек 2 — EduTech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_tun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Hexagon 2"/>
          <p:cNvSpPr/>
          <p:nvPr/>
        </p:nvSpPr>
        <p:spPr>
          <a:xfrm>
            <a:off x="10317175" y="384048"/>
            <a:ext cx="384048" cy="332585"/>
          </a:xfrm>
          <a:prstGeom prst="hexagon">
            <a:avLst>
              <a:gd name="adj" fmla="val 28868"/>
              <a:gd name="vf" fmla="val 115470"/>
            </a:avLst>
          </a:prstGeom>
          <a:solidFill>
            <a:srgbClr val="0B4D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>
            <a:off x="10509199" y="438912"/>
            <a:ext cx="0" cy="82295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 flipH="1">
            <a:off x="10439704" y="521207"/>
            <a:ext cx="69495" cy="100585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0509199" y="521207"/>
            <a:ext cx="69494" cy="100585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0509199" y="521207"/>
            <a:ext cx="0" cy="100585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H="1" flipV="1">
            <a:off x="10454335" y="438912"/>
            <a:ext cx="54864" cy="36576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V="1">
            <a:off x="10509199" y="438912"/>
            <a:ext cx="54864" cy="36576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10792663" y="402336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 i="0">
                <a:solidFill>
                  <a:srgbClr val="0B4DA2"/>
                </a:solidFill>
                <a:latin typeface="Arial Black"/>
              </a:rPr>
              <a:t>Tamyr</a:t>
            </a:r>
          </a:p>
        </p:txBody>
      </p:sp>
      <p:sp>
        <p:nvSpPr>
          <p:cNvPr id="11" name="Oval 10"/>
          <p:cNvSpPr/>
          <p:nvPr/>
        </p:nvSpPr>
        <p:spPr>
          <a:xfrm>
            <a:off x="411480" y="320040"/>
            <a:ext cx="182880" cy="182880"/>
          </a:xfrm>
          <a:prstGeom prst="ellipse">
            <a:avLst/>
          </a:prstGeom>
          <a:solidFill>
            <a:srgbClr val="0B4D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61288" y="749808"/>
            <a:ext cx="146304" cy="146304"/>
          </a:xfrm>
          <a:prstGeom prst="ellipse">
            <a:avLst/>
          </a:prstGeom>
          <a:solidFill>
            <a:srgbClr val="0B4D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011679" y="320040"/>
            <a:ext cx="182880" cy="182880"/>
          </a:xfrm>
          <a:prstGeom prst="ellipse">
            <a:avLst/>
          </a:prstGeom>
          <a:solidFill>
            <a:srgbClr val="0B4D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114300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00" b="0" i="0">
                <a:solidFill>
                  <a:srgbClr val="0B4DA2"/>
                </a:solidFill>
                <a:latin typeface="Arial Black"/>
              </a:rPr>
              <a:t>ДАЛЬШЕ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1892807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111111"/>
                </a:solidFill>
                <a:latin typeface="Arial Black"/>
              </a:rPr>
              <a:t>ОТ ПРОТОТИПА К КЛАССУ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097280" y="3520440"/>
            <a:ext cx="8412480" cy="0"/>
          </a:xfrm>
          <a:prstGeom prst="line">
            <a:avLst/>
          </a:prstGeom>
          <a:ln w="38100">
            <a:solidFill>
              <a:srgbClr val="B9CF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Hexagon 16"/>
          <p:cNvSpPr/>
          <p:nvPr/>
        </p:nvSpPr>
        <p:spPr>
          <a:xfrm>
            <a:off x="731520" y="3127248"/>
            <a:ext cx="868680" cy="752276"/>
          </a:xfrm>
          <a:prstGeom prst="hexagon">
            <a:avLst>
              <a:gd name="adj" fmla="val 28868"/>
              <a:gd name="vf" fmla="val 115470"/>
            </a:avLst>
          </a:prstGeom>
          <a:solidFill>
            <a:srgbClr val="0B4DA2"/>
          </a:solidFill>
          <a:ln w="38100">
            <a:solidFill>
              <a:srgbClr val="0B4D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 wrap="square"/>
          <a:lstStyle/>
          <a:p>
            <a:pPr algn="ctr"/>
            <a:r>
              <a:rPr sz="1600" b="0">
                <a:solidFill>
                  <a:srgbClr val="FFFFFF"/>
                </a:solidFill>
                <a:latin typeface="Arial Black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4160520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0B4DA2"/>
                </a:solidFill>
                <a:latin typeface="Arial Black"/>
              </a:rPr>
              <a:t>Сейчас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4553712"/>
            <a:ext cx="25146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A4F57"/>
                </a:solidFill>
                <a:latin typeface="Arial Black"/>
              </a:rPr>
              <a:t>MVP: 17 тем, 102 задания, 43 ошибки мышления, панель учителя</a:t>
            </a:r>
          </a:p>
        </p:txBody>
      </p:sp>
      <p:sp>
        <p:nvSpPr>
          <p:cNvPr id="20" name="Hexagon 19"/>
          <p:cNvSpPr/>
          <p:nvPr/>
        </p:nvSpPr>
        <p:spPr>
          <a:xfrm>
            <a:off x="3566160" y="3127248"/>
            <a:ext cx="868680" cy="752276"/>
          </a:xfrm>
          <a:prstGeom prst="hexagon">
            <a:avLst>
              <a:gd name="adj" fmla="val 28868"/>
              <a:gd name="vf" fmla="val 115470"/>
            </a:avLst>
          </a:prstGeom>
          <a:solidFill>
            <a:srgbClr val="FFFFFF"/>
          </a:solidFill>
          <a:ln w="38100">
            <a:solidFill>
              <a:srgbClr val="0B4D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 wrap="square"/>
          <a:lstStyle/>
          <a:p>
            <a:pPr algn="ctr"/>
            <a:r>
              <a:rPr sz="1600" b="0">
                <a:solidFill>
                  <a:srgbClr val="0B4DA2"/>
                </a:solidFill>
                <a:latin typeface="Arial Black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66160" y="4160520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0B4DA2"/>
                </a:solidFill>
                <a:latin typeface="Arial Black"/>
              </a:rPr>
              <a:t>1 месяц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66160" y="4553712"/>
            <a:ext cx="25146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A4F57"/>
                </a:solidFill>
                <a:latin typeface="Arial Black"/>
              </a:rPr>
              <a:t>Пилот в 2–3 классах, казахский язык</a:t>
            </a:r>
          </a:p>
        </p:txBody>
      </p:sp>
      <p:sp>
        <p:nvSpPr>
          <p:cNvPr id="23" name="Hexagon 22"/>
          <p:cNvSpPr/>
          <p:nvPr/>
        </p:nvSpPr>
        <p:spPr>
          <a:xfrm>
            <a:off x="6400800" y="3127248"/>
            <a:ext cx="868680" cy="752276"/>
          </a:xfrm>
          <a:prstGeom prst="hexagon">
            <a:avLst>
              <a:gd name="adj" fmla="val 28868"/>
              <a:gd name="vf" fmla="val 115470"/>
            </a:avLst>
          </a:prstGeom>
          <a:solidFill>
            <a:srgbClr val="FFFFFF"/>
          </a:solidFill>
          <a:ln w="38100">
            <a:solidFill>
              <a:srgbClr val="0B4D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 wrap="square"/>
          <a:lstStyle/>
          <a:p>
            <a:pPr algn="ctr"/>
            <a:r>
              <a:rPr sz="1600" b="0">
                <a:solidFill>
                  <a:srgbClr val="0B4DA2"/>
                </a:solidFill>
                <a:latin typeface="Arial Black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0" y="4160520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0B4DA2"/>
                </a:solidFill>
                <a:latin typeface="Arial Black"/>
              </a:rPr>
              <a:t>3 месяца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0" y="4553712"/>
            <a:ext cx="25146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A4F57"/>
                </a:solidFill>
                <a:latin typeface="Arial Black"/>
              </a:rPr>
              <a:t>Байесовская модель освоения, 10+ вопросов на тему</a:t>
            </a:r>
          </a:p>
        </p:txBody>
      </p:sp>
      <p:sp>
        <p:nvSpPr>
          <p:cNvPr id="26" name="Hexagon 25"/>
          <p:cNvSpPr/>
          <p:nvPr/>
        </p:nvSpPr>
        <p:spPr>
          <a:xfrm>
            <a:off x="9235440" y="3127248"/>
            <a:ext cx="868680" cy="752276"/>
          </a:xfrm>
          <a:prstGeom prst="hexagon">
            <a:avLst>
              <a:gd name="adj" fmla="val 28868"/>
              <a:gd name="vf" fmla="val 115470"/>
            </a:avLst>
          </a:prstGeom>
          <a:solidFill>
            <a:srgbClr val="FFFFFF"/>
          </a:solidFill>
          <a:ln w="38100">
            <a:solidFill>
              <a:srgbClr val="0B4D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 wrap="square"/>
          <a:lstStyle/>
          <a:p>
            <a:pPr algn="ctr"/>
            <a:r>
              <a:rPr sz="1600" b="0">
                <a:solidFill>
                  <a:srgbClr val="0B4DA2"/>
                </a:solidFill>
                <a:latin typeface="Arial Black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35440" y="4160520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0B4DA2"/>
                </a:solidFill>
                <a:latin typeface="Arial Black"/>
              </a:rPr>
              <a:t>6 месяцев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35440" y="4553712"/>
            <a:ext cx="25146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A4F57"/>
                </a:solidFill>
                <a:latin typeface="Arial Black"/>
              </a:rPr>
              <a:t>Геометрия и мат. грамотность ЕНТ, вход по коду класса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" y="5623560"/>
            <a:ext cx="7772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111111"/>
                </a:solidFill>
                <a:latin typeface="Arial Black"/>
              </a:rPr>
              <a:t>Команда: [Имя — роль] · [Имя — роль] · [Имя — роль]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" y="6035040"/>
            <a:ext cx="7772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A4F57"/>
                </a:solidFill>
                <a:latin typeface="Arial Black"/>
              </a:rPr>
              <a:t>GitHub: [ссылка на репозиторий]   ·   Демо: [ссылка на GitHub Pages]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281160" y="5715000"/>
            <a:ext cx="2286000" cy="457200"/>
          </a:xfrm>
          <a:prstGeom prst="rect">
            <a:avLst/>
          </a:prstGeom>
          <a:solidFill>
            <a:srgbClr val="0B4D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 wrap="square"/>
          <a:lstStyle/>
          <a:p>
            <a:pPr algn="ctr"/>
            <a:r>
              <a:rPr sz="1200" b="0">
                <a:solidFill>
                  <a:srgbClr val="FFFFFF"/>
                </a:solidFill>
                <a:latin typeface="Arial Black"/>
              </a:rPr>
              <a:t>Спасибо!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