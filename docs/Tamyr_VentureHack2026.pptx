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Tamyr — по-казахски «корень». Мы в треке EduTech. Мы находим не ошибку, а её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проблемы. Ученица повторяет квадратные уравнения, но корень — в дробях 6 класса.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Цифры проверены по первоисточникам (README → «Источники»): OECD PISA 2022 Country Note: Kazakhstan; ЕНТ-2025 — Вечерняя Астана, 02.06.2025. Если провели опрос, назовите свою цифру; если нет, удалите нижнюю строку.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Объясните правила движка. Ключевая особенность: неверный вариант ответа говорит, какая именно это ошибка.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Живое демо: #setup → «Квадратные уравнения» → отвечать как ученик с пробелом в дробях. Запасной вариант: #demo.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утверждайте, что идея уникальна: жюри может знать ALEKS и Eedi. Перед защитой проверьте актуальные описания конкурентов на их сайтах.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Говорите честно про симуляцию, затем — что реально проверили: 4 интервью (docs/validation-plan.md). Опрос учеников собран, но временные метки ответов не проходят проверку на подлинность — не выносите его на слайд, пока не подтверждено, как именно он собирался.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Цены репетитора и центра — из 2 реальных интервью (не гипотеза), см. docs/validation-plan.md. Школьная цена — всё ещё гипотеза, честно так и скажите. 184 тыс. — оценка: 216 тыс. минус около 15% творческих специальностей.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1325880" y="182879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154679" y="8686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86200" y="4114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86200" y="132588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8" name="Hexagon 7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6" name="Oval 15"/>
          <p:cNvSpPr/>
          <p:nvPr/>
        </p:nvSpPr>
        <p:spPr>
          <a:xfrm>
            <a:off x="457200" y="5486400"/>
            <a:ext cx="4480560" cy="685800"/>
          </a:xfrm>
          <a:prstGeom prst="ellipse">
            <a:avLst/>
          </a:prstGeom>
          <a:solidFill>
            <a:srgbClr val="082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4360" y="5422392"/>
            <a:ext cx="4206240" cy="548640"/>
          </a:xfrm>
          <a:prstGeom prst="ellipse">
            <a:avLst/>
          </a:prstGeom>
          <a:solidFill>
            <a:srgbClr val="1A1F2A"/>
          </a:solidFill>
          <a:ln w="31750">
            <a:solidFill>
              <a:srgbClr val="5B8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Hexagon 17"/>
          <p:cNvSpPr/>
          <p:nvPr/>
        </p:nvSpPr>
        <p:spPr>
          <a:xfrm>
            <a:off x="1897380" y="162466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Кв.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6972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Лин.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уравнения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097530" y="231754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1" name="Hexagon 20"/>
          <p:cNvSpPr/>
          <p:nvPr/>
        </p:nvSpPr>
        <p:spPr>
          <a:xfrm>
            <a:off x="1897380" y="3010433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2" name="Hexagon 21"/>
          <p:cNvSpPr/>
          <p:nvPr/>
        </p:nvSpPr>
        <p:spPr>
          <a:xfrm>
            <a:off x="6972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082F66"/>
                </a:solidFill>
                <a:latin typeface="Arial Black"/>
              </a:rPr>
              <a:t>Проценты</a:t>
            </a:r>
          </a:p>
        </p:txBody>
      </p:sp>
      <p:sp>
        <p:nvSpPr>
          <p:cNvPr id="23" name="Hexagon 22"/>
          <p:cNvSpPr/>
          <p:nvPr/>
        </p:nvSpPr>
        <p:spPr>
          <a:xfrm>
            <a:off x="3097530" y="3703320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Степени</a:t>
            </a:r>
          </a:p>
        </p:txBody>
      </p:sp>
      <p:sp>
        <p:nvSpPr>
          <p:cNvPr id="24" name="Hexagon 23"/>
          <p:cNvSpPr/>
          <p:nvPr/>
        </p:nvSpPr>
        <p:spPr>
          <a:xfrm>
            <a:off x="1897380" y="4396206"/>
            <a:ext cx="1600200" cy="138577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30552" y="3941063"/>
            <a:ext cx="11338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900" b="0">
                <a:solidFill>
                  <a:srgbClr val="E0473E"/>
                </a:solidFill>
                <a:latin typeface="Arial Black"/>
              </a:rPr>
              <a:t>КОРЕНЬ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20040" y="6355080"/>
            <a:ext cx="5486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868680" y="6126480"/>
            <a:ext cx="274320" cy="22860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143000" y="6126480"/>
            <a:ext cx="64008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278892" y="63139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741932" y="608533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7863840" y="5989320"/>
            <a:ext cx="73152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8595360" y="5715000"/>
            <a:ext cx="274320" cy="27432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869680" y="5715000"/>
            <a:ext cx="1005840" cy="0"/>
          </a:xfrm>
          <a:prstGeom prst="line">
            <a:avLst/>
          </a:prstGeom>
          <a:ln w="15875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7822692" y="594817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834372" y="5673852"/>
            <a:ext cx="82296" cy="82296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966959" y="521208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515600" y="548640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201400" y="557784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04119" y="585216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567159" y="5303520"/>
            <a:ext cx="91440" cy="9144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97880" y="178308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2788920"/>
            <a:ext cx="5943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 i="0">
                <a:solidFill>
                  <a:srgbClr val="111111"/>
                </a:solidFill>
                <a:latin typeface="Arial Black"/>
              </a:rPr>
              <a:t>НАХОДИМ КОРЕНЬ ОШИБКИ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4360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Адаптивная диагностика по математике для ЕНТ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3977639"/>
            <a:ext cx="5577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A4F57"/>
                </a:solidFill>
                <a:latin typeface="Arial Black"/>
              </a:rPr>
              <a:t>За один тест показывает базовую тему, из-за которой «сыпятся» все следующие. Тамыр (каз.) — корень.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43600" y="4983480"/>
            <a:ext cx="26517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Трек 2 · EduTech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7A808A"/>
                </a:solidFill>
                <a:latin typeface="Arial Black"/>
              </a:rPr>
              <a:t>VentureHack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6309359" y="681959"/>
            <a:ext cx="6766560" cy="5859840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58521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ПРОБЛЕМА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УЧЕНИК ПОВТОРЯЕТ
НЕ ТУ ТЕМУ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71800"/>
            <a:ext cx="5486400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Пример: 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ученица готовится к ЕНТ и ошибается в квадратных уравнениях.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Пробник советует: «Повторите квадратные уравнения». Она повторяет, а ошибки остаются.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4A4F57"/>
                </a:solidFill>
                <a:latin typeface="Arial Black"/>
              </a:rPr>
              <a:t>Настоящая причина лежит на три темы ниже: </a:t>
            </a:r>
            <a:r>
              <a:rPr sz="1500" b="0" i="0">
                <a:solidFill>
                  <a:srgbClr val="E0473E"/>
                </a:solidFill>
                <a:latin typeface="Arial Black"/>
              </a:rPr>
              <a:t>она неверно складывает дроби</a:t>
            </a:r>
            <a:r>
              <a:rPr sz="1500" b="0" i="0">
                <a:solidFill>
                  <a:srgbClr val="4A4F57"/>
                </a:solidFill>
                <a:latin typeface="Arial Black"/>
              </a:rPr>
              <a:t> — это материал 6 класса.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0B4DA2"/>
                </a:solidFill>
                <a:latin typeface="Arial Black"/>
              </a:rPr>
              <a:t>Тест показывает симптом, но не диагноз.</a:t>
            </a:r>
          </a:p>
        </p:txBody>
      </p:sp>
      <p:sp>
        <p:nvSpPr>
          <p:cNvPr id="14" name="Hexagon 13"/>
          <p:cNvSpPr/>
          <p:nvPr/>
        </p:nvSpPr>
        <p:spPr>
          <a:xfrm>
            <a:off x="7498079" y="160020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Квадратные уравнения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251460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видна здесь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601200" y="278892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498079" y="306324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17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0B4DA2"/>
                </a:solidFill>
                <a:latin typeface="Arial Black"/>
              </a:rPr>
              <a:t>Линейные уравнения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3977639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ошибка тянется отсюда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601200" y="4251960"/>
            <a:ext cx="0" cy="25603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Hexagon 19"/>
          <p:cNvSpPr/>
          <p:nvPr/>
        </p:nvSpPr>
        <p:spPr>
          <a:xfrm>
            <a:off x="7498079" y="4526280"/>
            <a:ext cx="4206240" cy="86868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3175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700" b="0">
                <a:solidFill>
                  <a:srgbClr val="FFFFFF"/>
                </a:solidFill>
                <a:latin typeface="Arial Black"/>
              </a:rPr>
              <a:t>Действия с дробями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54406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1">
                <a:solidFill>
                  <a:srgbClr val="4A4F57"/>
                </a:solidFill>
                <a:latin typeface="Arial Black"/>
              </a:rPr>
              <a:t>корень проблемы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МАСШТАБ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ПРОБЛЕМА МАССОВАЯ, А ТЕСТ ЛЕЧИТ СИМПТОМ</a:t>
            </a:r>
          </a:p>
        </p:txBody>
      </p:sp>
      <p:sp>
        <p:nvSpPr>
          <p:cNvPr id="12" name="Hexagon 11"/>
          <p:cNvSpPr/>
          <p:nvPr/>
        </p:nvSpPr>
        <p:spPr>
          <a:xfrm>
            <a:off x="548640" y="233172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50%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37743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школьников Казахстана
достигли мин. уровня
по математике (ОЭСР — 69%)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081527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PISA 2022</a:t>
            </a:r>
          </a:p>
        </p:txBody>
      </p:sp>
      <p:sp>
        <p:nvSpPr>
          <p:cNvPr id="15" name="Hexagon 14"/>
          <p:cNvSpPr/>
          <p:nvPr/>
        </p:nvSpPr>
        <p:spPr>
          <a:xfrm>
            <a:off x="548640" y="3520439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216 тыс.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3566159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абитуриентов ЕНТ
в 2025 году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427024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НЦТ / Вечерняя Астана</a:t>
            </a:r>
          </a:p>
        </p:txBody>
      </p:sp>
      <p:sp>
        <p:nvSpPr>
          <p:cNvPr id="18" name="Hexagon 17"/>
          <p:cNvSpPr/>
          <p:nvPr/>
        </p:nvSpPr>
        <p:spPr>
          <a:xfrm>
            <a:off x="548640" y="4709160"/>
            <a:ext cx="2240280" cy="1005840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0B4DA2"/>
                </a:solidFill>
                <a:latin typeface="Arial Black"/>
              </a:rPr>
              <a:t>64/140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75488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Arial Black"/>
              </a:rPr>
              <a:t>средний балл ЕНТ-2025
по пяти предметам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5458968"/>
            <a:ext cx="28346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Вечерняя Астана, 02.06.2025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2286000"/>
            <a:ext cx="55321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6217920" y="248716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24688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Математика кумулятивна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81635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Пробел в базовой теме всплывает позже — в теме, которая на ней держится.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6217920" y="358444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35661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Тест измеряет балл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391363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Пробник говорит, где ошибка произошла, но не почему. Выбранный неверный вариант не анализируется.</a:t>
            </a:r>
          </a:p>
        </p:txBody>
      </p:sp>
      <p:sp>
        <p:nvSpPr>
          <p:cNvPr id="28" name="Hexagon 27"/>
          <p:cNvSpPr/>
          <p:nvPr/>
        </p:nvSpPr>
        <p:spPr>
          <a:xfrm>
            <a:off x="6217920" y="4681728"/>
            <a:ext cx="566928" cy="490959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46634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B4DA2"/>
                </a:solidFill>
                <a:latin typeface="Arial Black"/>
              </a:rPr>
              <a:t>У учителя нет времени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5010912"/>
            <a:ext cx="4389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25–30 учеников в классе: проверить каждого по всем темам 5–9 классов невозможно.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E0473E"/>
                </a:solidFill>
                <a:latin typeface="Arial Black"/>
              </a:rPr>
              <a:t>Место для вашей цифры из опроса: </a:t>
            </a:r>
            <a:r>
              <a:rPr sz="1100" b="0" i="0">
                <a:solidFill>
                  <a:srgbClr val="4A4F57"/>
                </a:solidFill>
                <a:latin typeface="Arial Black"/>
              </a:rPr>
              <a:t>«__% учеников не понимают, почему ошиблись в пробнике» (n = __). Заполните по docs/validation-plan.md или удалите строку.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-2743200" y="4920752"/>
            <a:ext cx="3840480" cy="332585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РЕШЕНИЕ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НАЙТИ КОРЕНЬ → ПОКАЗАТЬ → ПОЧИНИТЬ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78308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Hexagon 13"/>
          <p:cNvSpPr/>
          <p:nvPr/>
        </p:nvSpPr>
        <p:spPr>
          <a:xfrm>
            <a:off x="82296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Адаптивная диагностика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Начинаем со сложной темы и спускаемся по графу из 17 тем только там, где есть ошибки. Без пробелов — около 10 вопросов.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2761488"/>
            <a:ext cx="1783079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361187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7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Карта знаний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Корневой пробел, цепочки «ошибка в X → корень в Y» и ошибки мышления по выбранным неверным ответам.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60920" y="2761488"/>
            <a:ext cx="1783080" cy="0"/>
          </a:xfrm>
          <a:prstGeom prst="line">
            <a:avLst/>
          </a:prstGeom>
          <a:ln w="25400">
            <a:solidFill>
              <a:srgbClr val="B9CF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Hexagon 21"/>
          <p:cNvSpPr/>
          <p:nvPr/>
        </p:nvSpPr>
        <p:spPr>
          <a:xfrm>
            <a:off x="6400800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План снизу вверх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Правило, пример, разбор своей ошибки и 2 новые проверочные задачи. Следующая тема — после корня.</a:t>
            </a:r>
          </a:p>
        </p:txBody>
      </p:sp>
      <p:sp>
        <p:nvSpPr>
          <p:cNvPr id="25" name="Hexagon 24"/>
          <p:cNvSpPr/>
          <p:nvPr/>
        </p:nvSpPr>
        <p:spPr>
          <a:xfrm>
            <a:off x="9189719" y="2331720"/>
            <a:ext cx="960120" cy="831463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19" y="342900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11111"/>
                </a:solidFill>
                <a:latin typeface="Arial Black"/>
              </a:rPr>
              <a:t>Панель учителя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9719" y="4160520"/>
            <a:ext cx="25146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A4F57"/>
                </a:solidFill>
                <a:latin typeface="Arial Black"/>
              </a:rPr>
              <a:t>Корни всего класса, частые ошибки, готовые мини-группы, тепловая карта и CSV.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66160" y="5806440"/>
            <a:ext cx="76809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Работает в браузере на любом телефоне — без установки, регистрации и сервера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АЛГОРИТМ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КАК TAMYR ИЩЕТ КОРЕНЬ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34874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31820" y="2898648"/>
            <a:ext cx="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131820" y="2898648"/>
            <a:ext cx="178308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217420" y="3995928"/>
            <a:ext cx="91440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1820" y="3995928"/>
            <a:ext cx="914400" cy="530352"/>
          </a:xfrm>
          <a:prstGeom prst="line">
            <a:avLst/>
          </a:prstGeom>
          <a:ln w="31750">
            <a:solidFill>
              <a:srgbClr val="E047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046220" y="5093208"/>
            <a:ext cx="0" cy="530352"/>
          </a:xfrm>
          <a:prstGeom prst="line">
            <a:avLst/>
          </a:prstGeom>
          <a:ln w="19050">
            <a:solidFill>
              <a:srgbClr val="D5DD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Hexagon 17"/>
          <p:cNvSpPr/>
          <p:nvPr/>
        </p:nvSpPr>
        <p:spPr>
          <a:xfrm>
            <a:off x="2331720" y="233172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Кв. уравнения</a:t>
            </a:r>
          </a:p>
        </p:txBody>
      </p:sp>
      <p:sp>
        <p:nvSpPr>
          <p:cNvPr id="19" name="Hexagon 18"/>
          <p:cNvSpPr/>
          <p:nvPr/>
        </p:nvSpPr>
        <p:spPr>
          <a:xfrm>
            <a:off x="54864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Разложение</a:t>
            </a:r>
          </a:p>
        </p:txBody>
      </p:sp>
      <p:sp>
        <p:nvSpPr>
          <p:cNvPr id="20" name="Hexagon 19"/>
          <p:cNvSpPr/>
          <p:nvPr/>
        </p:nvSpPr>
        <p:spPr>
          <a:xfrm>
            <a:off x="233172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FBE3E1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111111"/>
                </a:solidFill>
                <a:latin typeface="Arial Black"/>
              </a:rPr>
              <a:t>Лин. уравнения</a:t>
            </a:r>
          </a:p>
        </p:txBody>
      </p:sp>
      <p:sp>
        <p:nvSpPr>
          <p:cNvPr id="21" name="Hexagon 20"/>
          <p:cNvSpPr/>
          <p:nvPr/>
        </p:nvSpPr>
        <p:spPr>
          <a:xfrm>
            <a:off x="4114800" y="342900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Корни</a:t>
            </a:r>
          </a:p>
        </p:txBody>
      </p:sp>
      <p:sp>
        <p:nvSpPr>
          <p:cNvPr id="22" name="Hexagon 21"/>
          <p:cNvSpPr/>
          <p:nvPr/>
        </p:nvSpPr>
        <p:spPr>
          <a:xfrm>
            <a:off x="14173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0B4DA2"/>
          </a:solidFill>
          <a:ln w="254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Выражения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3246120" y="452628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E0473E"/>
          </a:solidFill>
          <a:ln w="25400">
            <a:solidFill>
              <a:srgbClr val="E047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FFFFFF"/>
                </a:solidFill>
                <a:latin typeface="Arial Black"/>
              </a:rPr>
              <a:t>Дроби</a:t>
            </a:r>
          </a:p>
        </p:txBody>
      </p:sp>
      <p:sp>
        <p:nvSpPr>
          <p:cNvPr id="24" name="Hexagon 23"/>
          <p:cNvSpPr/>
          <p:nvPr/>
        </p:nvSpPr>
        <p:spPr>
          <a:xfrm>
            <a:off x="3246120" y="5623560"/>
            <a:ext cx="1600200" cy="566928"/>
          </a:xfrm>
          <a:prstGeom prst="hexagon">
            <a:avLst>
              <a:gd name="adj" fmla="val 50000"/>
              <a:gd name="vf" fmla="val 115470"/>
            </a:avLst>
          </a:prstGeom>
          <a:solidFill>
            <a:srgbClr val="B9CFEE"/>
          </a:solidFill>
          <a:ln w="25400">
            <a:solidFill>
              <a:srgbClr val="B9CF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000" b="0">
                <a:solidFill>
                  <a:srgbClr val="082F66"/>
                </a:solidFill>
                <a:latin typeface="Arial Black"/>
              </a:rPr>
              <a:t>Арифметика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3550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7A808A"/>
                </a:solidFill>
                <a:latin typeface="Arial Black"/>
              </a:rPr>
              <a:t>Синий — освоено, красный — пробел, насыщенный красный — корень</a:t>
            </a:r>
          </a:p>
        </p:txBody>
      </p:sp>
      <p:sp>
        <p:nvSpPr>
          <p:cNvPr id="26" name="Hexagon 25"/>
          <p:cNvSpPr/>
          <p:nvPr/>
        </p:nvSpPr>
        <p:spPr>
          <a:xfrm>
            <a:off x="6309360" y="2423160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Решил тему без ошибок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27249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всё, на чём она держится, засчитано без вопросов</a:t>
            </a:r>
          </a:p>
        </p:txBody>
      </p:sp>
      <p:sp>
        <p:nvSpPr>
          <p:cNvPr id="29" name="Hexagon 28"/>
          <p:cNvSpPr/>
          <p:nvPr/>
        </p:nvSpPr>
        <p:spPr>
          <a:xfrm>
            <a:off x="6309360" y="3227832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E047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182112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Ошибся дважды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0" y="35295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спускаемся к непроверенным пререквизитам</a:t>
            </a:r>
          </a:p>
        </p:txBody>
      </p:sp>
      <p:sp>
        <p:nvSpPr>
          <p:cNvPr id="32" name="Hexagon 31"/>
          <p:cNvSpPr/>
          <p:nvPr/>
        </p:nvSpPr>
        <p:spPr>
          <a:xfrm>
            <a:off x="6309360" y="4032504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5B8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86784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Неверный вариант с меткой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0" y="43342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сначала проверяем «домашнюю» тему этой ошибки</a:t>
            </a:r>
          </a:p>
        </p:txBody>
      </p:sp>
      <p:sp>
        <p:nvSpPr>
          <p:cNvPr id="35" name="Hexagon 34"/>
          <p:cNvSpPr/>
          <p:nvPr/>
        </p:nvSpPr>
        <p:spPr>
          <a:xfrm>
            <a:off x="6309360" y="4837176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4791456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Arial Black"/>
              </a:rPr>
              <a:t>Корень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5138928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= пробел, под которым пробелов нет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5669280"/>
            <a:ext cx="5303520" cy="8686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574243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E0473E"/>
                </a:solidFill>
                <a:latin typeface="Arial Black"/>
              </a:rPr>
              <a:t>1/2 + 1/3 = 2/5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  →  «складывает числители и знаменатели»</a:t>
            </a:r>
          </a:p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Такой ответ сразу отправляет проверку в тему «Дроби».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274319" y="61831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ДЕМО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КАРТА ЗНАНИЙ УЧЕНИКА</a:t>
            </a:r>
          </a:p>
        </p:txBody>
      </p:sp>
      <p:pic>
        <p:nvPicPr>
          <p:cNvPr id="13" name="Picture 12" descr="demo.png"/>
          <p:cNvPicPr>
            <a:picLocks noChangeAspect="1"/>
          </p:cNvPicPr>
          <p:nvPr/>
        </p:nvPicPr>
        <p:blipFill>
          <a:blip r:embed="rId2"/>
          <a:srcRect b="20000"/>
          <a:stretch>
            <a:fillRect/>
          </a:stretch>
        </p:blipFill>
        <p:spPr>
          <a:xfrm>
            <a:off x="640080" y="2331720"/>
            <a:ext cx="6675120" cy="370840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7818120" y="234086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28600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14 вопросов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33472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теме «Квадратные уравнения» и всем её основам</a:t>
            </a:r>
          </a:p>
        </p:txBody>
      </p:sp>
      <p:sp>
        <p:nvSpPr>
          <p:cNvPr id="17" name="Hexagon 16"/>
          <p:cNvSpPr/>
          <p:nvPr/>
        </p:nvSpPr>
        <p:spPr>
          <a:xfrm>
            <a:off x="7818120" y="3236976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3182112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Корень — «Дроби»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529584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хотя ошибки видны в квадратных и линейных уравнениях</a:t>
            </a:r>
          </a:p>
        </p:txBody>
      </p:sp>
      <p:sp>
        <p:nvSpPr>
          <p:cNvPr id="20" name="Hexagon 19"/>
          <p:cNvSpPr/>
          <p:nvPr/>
        </p:nvSpPr>
        <p:spPr>
          <a:xfrm>
            <a:off x="7818120" y="4133087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Ошибки мышления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4425696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по выбранным вариантам, с правилом исправления</a:t>
            </a:r>
          </a:p>
        </p:txBody>
      </p:sp>
      <p:sp>
        <p:nvSpPr>
          <p:cNvPr id="23" name="Hexagon 22"/>
          <p:cNvSpPr/>
          <p:nvPr/>
        </p:nvSpPr>
        <p:spPr>
          <a:xfrm>
            <a:off x="7818120" y="5029199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4974336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План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5321807"/>
            <a:ext cx="34747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«Разобрать» → урок → 2 новые задачи → следующая тема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5989320"/>
            <a:ext cx="2834640" cy="41148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Открыть: index.html#demo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4480559" y="709757"/>
            <a:ext cx="7863840" cy="68100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B9C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" name="Hexagon 2"/>
          <p:cNvSpPr/>
          <p:nvPr/>
        </p:nvSpPr>
        <p:spPr>
          <a:xfrm>
            <a:off x="548640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740664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671169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40664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40664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685800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40664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24128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868680"/>
            <a:ext cx="4754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УЧИТЕЛЮ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618488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КОРНИ ВСЕГО КЛАССА</a:t>
            </a:r>
          </a:p>
        </p:txBody>
      </p:sp>
      <p:pic>
        <p:nvPicPr>
          <p:cNvPr id="13" name="Picture 12" descr="teacher.png"/>
          <p:cNvPicPr>
            <a:picLocks noChangeAspect="1"/>
          </p:cNvPicPr>
          <p:nvPr/>
        </p:nvPicPr>
        <p:blipFill>
          <a:blip r:embed="rId2"/>
          <a:srcRect b="12000"/>
          <a:stretch>
            <a:fillRect/>
          </a:stretch>
        </p:blipFill>
        <p:spPr>
          <a:xfrm>
            <a:off x="4892040" y="1234440"/>
            <a:ext cx="6675120" cy="4079240"/>
          </a:xfrm>
          <a:prstGeom prst="rect">
            <a:avLst/>
          </a:prstGeom>
          <a:ln w="12700">
            <a:solidFill>
              <a:srgbClr val="D5DDE8"/>
            </a:solidFill>
          </a:ln>
        </p:spPr>
      </p:pic>
      <p:sp>
        <p:nvSpPr>
          <p:cNvPr id="14" name="Hexagon 13"/>
          <p:cNvSpPr/>
          <p:nvPr/>
        </p:nvSpPr>
        <p:spPr>
          <a:xfrm>
            <a:off x="640080" y="270662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Корневые пробелы класса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99923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какие базовые темы тянут класс вниз</a:t>
            </a:r>
          </a:p>
        </p:txBody>
      </p:sp>
      <p:sp>
        <p:nvSpPr>
          <p:cNvPr id="17" name="Hexagon 16"/>
          <p:cNvSpPr/>
          <p:nvPr/>
        </p:nvSpPr>
        <p:spPr>
          <a:xfrm>
            <a:off x="640080" y="352958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4747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Мини-группы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221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кого с кем посадить на 15-минутный разбор</a:t>
            </a:r>
          </a:p>
        </p:txBody>
      </p:sp>
      <p:sp>
        <p:nvSpPr>
          <p:cNvPr id="20" name="Hexagon 19"/>
          <p:cNvSpPr/>
          <p:nvPr/>
        </p:nvSpPr>
        <p:spPr>
          <a:xfrm>
            <a:off x="640080" y="4352544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976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Тепловая карта и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64515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× тема, выгрузка в Excel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" y="5175503"/>
            <a:ext cx="274320" cy="237561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1206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Без сервера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468112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ученик передаёт результат кодом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635508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4A4F57"/>
                </a:solidFill>
                <a:latin typeface="Arial Black"/>
              </a:rPr>
              <a:t>Демо-класс: 24 виртуальных ученика (симуляция, не реальные данные).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КОНКУРЕНТЫ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ИДЕЯ НЕ НОВАЯ — НОВОЕ В СВЯЗКЕ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24028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ЧТО ДЕЛАЕТ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24028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0B4DA2"/>
                </a:solidFill>
                <a:latin typeface="Arial Black"/>
              </a:rPr>
              <a:t>ЧЕМ ОТЛИЧАЕТСЯ TAMYR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560320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5" name="Hexagon 14"/>
          <p:cNvSpPr/>
          <p:nvPr/>
        </p:nvSpPr>
        <p:spPr>
          <a:xfrm>
            <a:off x="822960" y="2779776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265176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ALEKS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96265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McGraw Hill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15184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Адаптивная оценка по «пространству знаний». Платная, программы США.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78040" y="2560320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2615184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Программа и формат ЕНТ, бесплатно для ученика, офлайн без регистрации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64991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Hexagon 21"/>
          <p:cNvSpPr/>
          <p:nvPr/>
        </p:nvSpPr>
        <p:spPr>
          <a:xfrm>
            <a:off x="822960" y="3584448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3456432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Eedi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67328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Великобритания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63240" y="3419856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Диагностические вопросы: неверный вариант указывает на ошибку мышления.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364991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0" y="3419856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Метка ошибки сразу ведёт в её домашнюю тему и дальше вниз, к корню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4169663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9" name="Hexagon 28"/>
          <p:cNvSpPr/>
          <p:nvPr/>
        </p:nvSpPr>
        <p:spPr>
          <a:xfrm>
            <a:off x="822960" y="4389120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280160" y="4261103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Khan Academy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57200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США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224527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Бесплатные курсы и система освоения по темам.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78040" y="4169663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4224527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Не курс, а 10–20 минут диагностики: с чего начать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74336"/>
            <a:ext cx="108813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6" name="Hexagon 35"/>
          <p:cNvSpPr/>
          <p:nvPr/>
        </p:nvSpPr>
        <p:spPr>
          <a:xfrm>
            <a:off x="822960" y="5193792"/>
            <a:ext cx="310896" cy="26923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5065775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Пробники ЕНТ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80160" y="537667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A808A"/>
                </a:solidFill>
                <a:latin typeface="Arial Black"/>
              </a:rPr>
              <a:t>Казахстан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3240" y="5029199"/>
            <a:ext cx="4023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Балл и разбор по темам, где произошла ошибка.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78040" y="4974336"/>
            <a:ext cx="4343400" cy="713232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0" y="5029199"/>
            <a:ext cx="41148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0B4DA2"/>
                </a:solidFill>
                <a:latin typeface="Arial Black"/>
              </a:rPr>
              <a:t>Причина, а не балл; учителю — корни класса и группы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Неверный вариант → домашняя тема ошибки → проверка корня  ·  под ЕНТ, офлайн, с панелью учителя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ВАЛИДАЦИЯ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ЧТО УЖЕ ПРОВЕРЕНО</a:t>
            </a:r>
          </a:p>
        </p:txBody>
      </p:sp>
      <p:sp>
        <p:nvSpPr>
          <p:cNvPr id="12" name="Hexagon 11"/>
          <p:cNvSpPr/>
          <p:nvPr/>
        </p:nvSpPr>
        <p:spPr>
          <a:xfrm>
            <a:off x="77724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90%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настоящих корней найдено
(полнота)</a:t>
            </a:r>
          </a:p>
        </p:txBody>
      </p:sp>
      <p:sp>
        <p:nvSpPr>
          <p:cNvPr id="14" name="Hexagon 13"/>
          <p:cNvSpPr/>
          <p:nvPr/>
        </p:nvSpPr>
        <p:spPr>
          <a:xfrm>
            <a:off x="3566160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найденных корней верны
(точность)</a:t>
            </a:r>
          </a:p>
        </p:txBody>
      </p:sp>
      <p:sp>
        <p:nvSpPr>
          <p:cNvPr id="16" name="Hexagon 15"/>
          <p:cNvSpPr/>
          <p:nvPr/>
        </p:nvSpPr>
        <p:spPr>
          <a:xfrm>
            <a:off x="635507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7/18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1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тем спецификации ЕНТ
покрыто (алгебра)</a:t>
            </a:r>
          </a:p>
        </p:txBody>
      </p:sp>
      <p:sp>
        <p:nvSpPr>
          <p:cNvPr id="18" name="Hexagon 17"/>
          <p:cNvSpPr/>
          <p:nvPr/>
        </p:nvSpPr>
        <p:spPr>
          <a:xfrm>
            <a:off x="9143999" y="2240280"/>
            <a:ext cx="2240280" cy="1940082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800" b="0">
                <a:solidFill>
                  <a:srgbClr val="0B4DA2"/>
                </a:solidFill>
                <a:latin typeface="Arial Black"/>
              </a:rPr>
              <a:t>20/20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39" y="4251960"/>
            <a:ext cx="2514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4A4F57"/>
                </a:solidFill>
                <a:latin typeface="Arial Black"/>
              </a:rPr>
              <a:t>юнит-тестов
проходят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983480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7A808A"/>
                </a:solidFill>
                <a:latin typeface="Arial Black"/>
              </a:rPr>
              <a:t>Полнота и точность — контрольная симуляция: 1000 новых виртуальных учеников, не использованных при доработке (было 79% и 72% до правила «перевес в 2»). Модель ученика наша, поэтому это оценка сверху. Покрытие — сверка 17 тем с официальной спецификацией НЦТ (с 2026 г.).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532120"/>
            <a:ext cx="10881360" cy="1005840"/>
          </a:xfrm>
          <a:prstGeom prst="rect">
            <a:avLst/>
          </a:prstGeom>
          <a:solidFill>
            <a:srgbClr val="EAF1FB"/>
          </a:solidFill>
          <a:ln w="1905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614416"/>
            <a:ext cx="104241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0B4DA2"/>
                </a:solidFill>
                <a:latin typeface="Arial Black"/>
              </a:rPr>
              <a:t>Проверено на людях: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интервью с 4 преподавателями (учитель математики, репетитор, преподаватель учебного центра, учитель физики).</a:t>
            </a:r>
          </a:p>
          <a:p>
            <a:pPr algn="l">
              <a:spcAft>
                <a:spcPts val="300"/>
              </a:spcAft>
            </a:pPr>
            <a:r>
              <a:rPr sz="1100" b="0" i="1">
                <a:solidFill>
                  <a:srgbClr val="111111"/>
                </a:solidFill>
                <a:latin typeface="Arial Black"/>
              </a:rPr>
              <a:t>«Ученик не может решать квадратные уравнения, а проблема — в отрицательных числах, дробях или раскрытии скобок» — учитель математики. </a:t>
            </a:r>
            <a:r>
              <a:rPr sz="1100" b="0" i="0">
                <a:solidFill>
                  <a:srgbClr val="111111"/>
                </a:solidFill>
                <a:latin typeface="Arial Black"/>
              </a:rPr>
              <a:t>Ручная диагностика занимает от одного занятия до недели; Tamyr — 10–34 вопроса.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Hexagon 1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8686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РЫНОК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1848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КОМУ, СКОЛЬКО СТОИТ, КАК ЗАПУСТИТЬ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Hexagon 12"/>
          <p:cNvSpPr/>
          <p:nvPr/>
        </p:nvSpPr>
        <p:spPr>
          <a:xfrm>
            <a:off x="91440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280160" y="2551176"/>
            <a:ext cx="0" cy="13990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1162019" y="2691079"/>
            <a:ext cx="118141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280160" y="2691079"/>
            <a:ext cx="11814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80160" y="2691079"/>
            <a:ext cx="0" cy="170993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1186891" y="2551176"/>
            <a:ext cx="93269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80160" y="2551176"/>
            <a:ext cx="93268" cy="6217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1440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Аудитория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216 тыс. абитуриентов ЕНТ-2025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≈184 тыс. сдают обязательную мат. грамотность (наша оценка: без творческих специальностей)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72% сдают ЕНТ на казахском → казахская версия — шаг №1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3" name="Hexagon 22"/>
          <p:cNvSpPr/>
          <p:nvPr/>
        </p:nvSpPr>
        <p:spPr>
          <a:xfrm>
            <a:off x="466344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Затраты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Хостинг: 0 ₸ (GitHub Pages)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Нет серверов и персональных данных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Основное: время учителей на проверку заданий и перевод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2743200"/>
            <a:ext cx="34747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27" name="Hexagon 26"/>
          <p:cNvSpPr/>
          <p:nvPr/>
        </p:nvSpPr>
        <p:spPr>
          <a:xfrm>
            <a:off x="8412480" y="2395728"/>
            <a:ext cx="731520" cy="63349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2200" b="0">
                <a:solidFill>
                  <a:srgbClr val="FFFFFF"/>
                </a:solidFill>
                <a:latin typeface="Arial Black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291840"/>
            <a:ext cx="2926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B4DA2"/>
                </a:solidFill>
                <a:latin typeface="Arial Black"/>
              </a:rPr>
              <a:t>Деньги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794760"/>
            <a:ext cx="2971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По интервью (n=4): репетитор — 5–10 тыс ₸/мес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Учебный центр: 30–70 тыс ₸/мес, либо 500–1 500 ₸/ученика</a:t>
            </a:r>
          </a:p>
          <a:p>
            <a:pPr algn="l" marL="201168" indent="-201168">
              <a:spcAft>
                <a:spcPts val="800"/>
              </a:spcAft>
              <a:buChar char="•"/>
            </a:pPr>
            <a:r>
              <a:rPr sz="1200" b="0" i="0">
                <a:solidFill>
                  <a:srgbClr val="4A4F57"/>
                </a:solidFill>
                <a:latin typeface="Arial Black"/>
              </a:rPr>
              <a:t>Школа: бесплатно для учителя ради охвата (гипотеза)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093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7A808A"/>
                </a:solidFill>
                <a:latin typeface="Arial Black"/>
              </a:rPr>
              <a:t>Источники: НЦТ (формат ЕНТ); Вечерняя Астана, 02.06.2025; интервью с 4 преподавателями, сентябрь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8255" y="635508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A808A"/>
                </a:solidFill>
                <a:latin typeface="Arial Black"/>
              </a:rPr>
              <a:t>VentureHack 2026  ·  Трек 2 — EduTech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t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Hexagon 2"/>
          <p:cNvSpPr/>
          <p:nvPr/>
        </p:nvSpPr>
        <p:spPr>
          <a:xfrm>
            <a:off x="10317175" y="384048"/>
            <a:ext cx="384048" cy="332585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0509199" y="438912"/>
            <a:ext cx="0" cy="8229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H="1">
            <a:off x="10439704" y="521207"/>
            <a:ext cx="69495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0509199" y="521207"/>
            <a:ext cx="69494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509199" y="521207"/>
            <a:ext cx="0" cy="100585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10454335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0509199" y="438912"/>
            <a:ext cx="54864" cy="36576"/>
          </a:xfrm>
          <a:prstGeom prst="line">
            <a:avLst/>
          </a:prstGeom>
          <a:ln w="1587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792663" y="402336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B4DA2"/>
                </a:solidFill>
                <a:latin typeface="Arial Black"/>
              </a:rPr>
              <a:t>Tamyr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61288" y="749808"/>
            <a:ext cx="146304" cy="146304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11679" y="320040"/>
            <a:ext cx="182880" cy="182880"/>
          </a:xfrm>
          <a:prstGeom prst="ellipse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114300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0" i="0">
                <a:solidFill>
                  <a:srgbClr val="0B4DA2"/>
                </a:solidFill>
                <a:latin typeface="Arial Black"/>
              </a:rPr>
              <a:t>ДАЛЬШЕ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892807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111111"/>
                </a:solidFill>
                <a:latin typeface="Arial Black"/>
              </a:rPr>
              <a:t>ОТ ПРОТОТИПА К КЛАССУ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97280" y="3520440"/>
            <a:ext cx="8412480" cy="0"/>
          </a:xfrm>
          <a:prstGeom prst="line">
            <a:avLst/>
          </a:prstGeom>
          <a:ln w="38100">
            <a:solidFill>
              <a:srgbClr val="B9CF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Hexagon 16"/>
          <p:cNvSpPr/>
          <p:nvPr/>
        </p:nvSpPr>
        <p:spPr>
          <a:xfrm>
            <a:off x="73152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0B4DA2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FFFFFF"/>
                </a:solidFill>
                <a:latin typeface="Arial Black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Сейчас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MVP: 17 тем, 102 задания, 43 ошибки мышления, панель учителя</a:t>
            </a:r>
          </a:p>
        </p:txBody>
      </p:sp>
      <p:sp>
        <p:nvSpPr>
          <p:cNvPr id="20" name="Hexagon 19"/>
          <p:cNvSpPr/>
          <p:nvPr/>
        </p:nvSpPr>
        <p:spPr>
          <a:xfrm>
            <a:off x="356616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1 месяц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Казахская версия, пилот в 2–3 классах</a:t>
            </a:r>
          </a:p>
        </p:txBody>
      </p:sp>
      <p:sp>
        <p:nvSpPr>
          <p:cNvPr id="23" name="Hexagon 22"/>
          <p:cNvSpPr/>
          <p:nvPr/>
        </p:nvSpPr>
        <p:spPr>
          <a:xfrm>
            <a:off x="640080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3 месяца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Проверка заданий учителями, 10+ вопросов на тему</a:t>
            </a:r>
          </a:p>
        </p:txBody>
      </p:sp>
      <p:sp>
        <p:nvSpPr>
          <p:cNvPr id="26" name="Hexagon 25"/>
          <p:cNvSpPr/>
          <p:nvPr/>
        </p:nvSpPr>
        <p:spPr>
          <a:xfrm>
            <a:off x="9235440" y="3127248"/>
            <a:ext cx="868680" cy="752276"/>
          </a:xfrm>
          <a:prstGeom prst="hexagon">
            <a:avLst>
              <a:gd name="adj" fmla="val 28868"/>
              <a:gd name="vf" fmla="val 115470"/>
            </a:avLst>
          </a:prstGeom>
          <a:solidFill>
            <a:srgbClr val="FFFFFF"/>
          </a:solidFill>
          <a:ln w="38100">
            <a:solidFill>
              <a:srgbClr val="0B4D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600" b="0">
                <a:solidFill>
                  <a:srgbClr val="0B4DA2"/>
                </a:solidFill>
                <a:latin typeface="Arial Black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416052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B4DA2"/>
                </a:solidFill>
                <a:latin typeface="Arial Black"/>
              </a:rPr>
              <a:t>6 месяцев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4553712"/>
            <a:ext cx="2514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A4F57"/>
                </a:solidFill>
                <a:latin typeface="Arial Black"/>
              </a:rPr>
              <a:t>Тригонометрия, логарифмы, геометрия по спецификации ЕНТ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62356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11111"/>
                </a:solidFill>
                <a:latin typeface="Arial Black"/>
              </a:rPr>
              <a:t>Команда: Bolatbay Yersultan · Zharkynuly Eren · Kydyrkhan Olzhas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35040"/>
            <a:ext cx="7772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F57"/>
                </a:solidFill>
                <a:latin typeface="Arial Black"/>
              </a:rPr>
              <a:t>GitHub: github.com/sas1k00/hackathonchik   ·   Демо: sas1k00.github.io/hackathonchik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281160" y="5715000"/>
            <a:ext cx="2286000" cy="457200"/>
          </a:xfrm>
          <a:prstGeom prst="rect">
            <a:avLst/>
          </a:prstGeom>
          <a:solidFill>
            <a:srgbClr val="0B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Arial Black"/>
              </a:rPr>
              <a:t>Спасибо!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