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причины. Если провели опрос, назовите реальную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честно: это симуляция. Затем назовите то, что проверили на людях. Если ничего не успели, скажите, что пилот запланирован, и удалите пустые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2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97280" y="731520"/>
            <a:ext cx="0" cy="370332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H="1">
            <a:off x="784555" y="1101852"/>
            <a:ext cx="312725" cy="452628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97280" y="1101852"/>
            <a:ext cx="312724" cy="452628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97280" y="1101852"/>
            <a:ext cx="0" cy="452628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850392" y="731520"/>
            <a:ext cx="246888" cy="164592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97280" y="731520"/>
            <a:ext cx="246888" cy="164592"/>
          </a:xfrm>
          <a:prstGeom prst="line">
            <a:avLst/>
          </a:prstGeom>
          <a:ln w="571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20116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mbria"/>
              </a:rPr>
              <a:t>Tamyr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9FD9C4"/>
                </a:solidFill>
                <a:latin typeface="Cambria"/>
              </a:rPr>
              <a:t>Находим не ошибку, а её корень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D8E6E0"/>
                </a:solidFill>
                <a:latin typeface="Calibri"/>
              </a:rPr>
              <a:t>Адаптивная диагностика по математике для подготовки к ЕНТ: за один тест показывает базовую тему, из-за которой «сыпятся» все следующие.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5CCC3"/>
                </a:solidFill>
                <a:latin typeface="Calibri"/>
              </a:rPr>
              <a:t>VentureHack 2026  ·  </a:t>
            </a:r>
            <a:r>
              <a:rPr sz="1400" b="1" i="0">
                <a:solidFill>
                  <a:srgbClr val="B5CCC3"/>
                </a:solidFill>
                <a:latin typeface="Calibri"/>
              </a:rPr>
              <a:t>Трек 2 — EduTech и образование будущего</a:t>
            </a:r>
            <a:r>
              <a:rPr sz="1400" b="0" i="0">
                <a:solidFill>
                  <a:srgbClr val="B5CCC3"/>
                </a:solidFill>
                <a:latin typeface="Calibri"/>
              </a:rPr>
              <a:t>  ·  тамыр (каз.) — корень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Ученик повторяет не ту тему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1206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1F6F5C"/>
                </a:solidFill>
                <a:latin typeface="Calibri"/>
              </a:rPr>
              <a:t>Пример: </a:t>
            </a:r>
            <a:r>
              <a:rPr sz="1800" b="1" i="0">
                <a:solidFill>
                  <a:srgbClr val="1D1F1C"/>
                </a:solidFill>
                <a:latin typeface="Calibri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D1F1C"/>
                </a:solidFill>
                <a:latin typeface="Calibri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D1F1C"/>
                </a:solidFill>
                <a:latin typeface="Calibri"/>
              </a:rPr>
              <a:t>Настоящая причина лежит на три темы ниже: </a:t>
            </a:r>
            <a:r>
              <a:rPr sz="1800" b="1" i="0">
                <a:solidFill>
                  <a:srgbClr val="D9534F"/>
                </a:solidFill>
                <a:latin typeface="Calibri"/>
              </a:rPr>
              <a:t>она неверно складывает дроби</a:t>
            </a:r>
            <a:r>
              <a:rPr sz="1800" b="0" i="0">
                <a:solidFill>
                  <a:srgbClr val="1D1F1C"/>
                </a:solidFill>
                <a:latin typeface="Calibri"/>
              </a:rPr>
              <a:t> — это материал 6 класса.</a:t>
            </a:r>
          </a:p>
          <a:p>
            <a:pPr algn="l">
              <a:spcAft>
                <a:spcPts val="1400"/>
              </a:spcAft>
            </a:pPr>
            <a:r>
              <a:rPr sz="1800" b="0" i="0">
                <a:solidFill>
                  <a:srgbClr val="1D1F1C"/>
                </a:solidFill>
                <a:latin typeface="Calibri"/>
              </a:rPr>
              <a:t>Тест показывает симптом, но не диагноз.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828800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8D7D5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1D1F1C"/>
                </a:solidFill>
                <a:latin typeface="Calibri"/>
              </a:rPr>
              <a:t>Квадратные уравнения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74320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B5F58"/>
                </a:solidFill>
                <a:latin typeface="Calibri"/>
              </a:rPr>
              <a:t>ошибка видна здесь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915400" y="3017520"/>
            <a:ext cx="0" cy="228600"/>
          </a:xfrm>
          <a:prstGeom prst="line">
            <a:avLst/>
          </a:prstGeom>
          <a:ln w="31750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675120" y="3246120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F8D7D5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1D1F1C"/>
                </a:solidFill>
                <a:latin typeface="Calibri"/>
              </a:rPr>
              <a:t>Линейные уравнения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1605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B5F58"/>
                </a:solidFill>
                <a:latin typeface="Calibri"/>
              </a:rPr>
              <a:t>ошибка тянется отсюда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15400" y="4434840"/>
            <a:ext cx="0" cy="228600"/>
          </a:xfrm>
          <a:prstGeom prst="line">
            <a:avLst/>
          </a:prstGeom>
          <a:ln w="31750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675120" y="4663440"/>
            <a:ext cx="4480560" cy="868680"/>
          </a:xfrm>
          <a:prstGeom prst="roundRect">
            <a:avLst>
              <a:gd name="adj" fmla="val 12000"/>
            </a:avLst>
          </a:prstGeom>
          <a:solidFill>
            <a:srgbClr val="D9534F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Действия с дробями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557784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B5F58"/>
                </a:solidFill>
                <a:latin typeface="Calibri"/>
              </a:rPr>
              <a:t>корень проблемы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ПРИЧИНЫ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Почему это происходит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4747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19" y="2331720"/>
            <a:ext cx="548640" cy="548640"/>
          </a:xfrm>
          <a:prstGeom prst="ellipse">
            <a:avLst/>
          </a:prstGeom>
          <a:solidFill>
            <a:srgbClr val="1F6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306324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Математика кумулятивна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3977639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Каждая тема держится на предыдущих. Пробел в базовой теме всплывает позже — в теме, которая на ней держится.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09159" y="2331720"/>
            <a:ext cx="548640" cy="548640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306324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Тесты измеряют балл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3977639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Пробники и контрольные говорят,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2011680"/>
            <a:ext cx="347472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58199" y="2331720"/>
            <a:ext cx="548640" cy="548640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06324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У учителя нет времени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199" y="3977639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В классе 25–30 учеников. Индивидуально проверить каждого по всем темам с 5 по 9 класс невозможно.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9534F"/>
                </a:solidFill>
                <a:latin typeface="Calibri"/>
              </a:rPr>
              <a:t>Место для вашей цифры из опроса: </a:t>
            </a:r>
            <a:r>
              <a:rPr sz="1400" b="0" i="0">
                <a:solidFill>
                  <a:srgbClr val="5B5F58"/>
                </a:solidFill>
                <a:latin typeface="Calibri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Три шага: найти корень → показать → починить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2103120"/>
            <a:ext cx="685800" cy="685800"/>
          </a:xfrm>
          <a:prstGeom prst="ellipse">
            <a:avLst/>
          </a:prstGeom>
          <a:solidFill>
            <a:srgbClr val="1F6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63040" y="2446020"/>
            <a:ext cx="1874520" cy="0"/>
          </a:xfrm>
          <a:prstGeom prst="line">
            <a:avLst/>
          </a:prstGeom>
          <a:ln w="38100">
            <a:solidFill>
              <a:srgbClr val="DCEF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3063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Адаптивная 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2560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Начинаем со сложной темы и спускаемся по графу из 17 тем только там, где есть ошибки. Без пробелов — около 9 вопросов.</a:t>
            </a:r>
          </a:p>
        </p:txBody>
      </p:sp>
      <p:sp>
        <p:nvSpPr>
          <p:cNvPr id="8" name="Oval 7"/>
          <p:cNvSpPr/>
          <p:nvPr/>
        </p:nvSpPr>
        <p:spPr>
          <a:xfrm>
            <a:off x="3456432" y="2103120"/>
            <a:ext cx="685800" cy="685800"/>
          </a:xfrm>
          <a:prstGeom prst="ellipse">
            <a:avLst/>
          </a:prstGeom>
          <a:solidFill>
            <a:srgbClr val="1F6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79392" y="2446020"/>
            <a:ext cx="1874520" cy="0"/>
          </a:xfrm>
          <a:prstGeom prst="line">
            <a:avLst/>
          </a:prstGeom>
          <a:ln w="38100">
            <a:solidFill>
              <a:srgbClr val="DCEF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6432" y="3063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Карта знаний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4023360"/>
            <a:ext cx="2560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sp>
        <p:nvSpPr>
          <p:cNvPr id="12" name="Oval 11"/>
          <p:cNvSpPr/>
          <p:nvPr/>
        </p:nvSpPr>
        <p:spPr>
          <a:xfrm>
            <a:off x="6272784" y="2103120"/>
            <a:ext cx="685800" cy="685800"/>
          </a:xfrm>
          <a:prstGeom prst="ellipse">
            <a:avLst/>
          </a:prstGeom>
          <a:solidFill>
            <a:srgbClr val="1F6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3063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План снизу вверх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4023360"/>
            <a:ext cx="2560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Правило, пример, разбор своей ошибки и 2 проверочные задачи. Следующая тема откроется после корня.</a:t>
            </a:r>
          </a:p>
        </p:txBody>
      </p:sp>
      <p:sp>
        <p:nvSpPr>
          <p:cNvPr id="15" name="Oval 14"/>
          <p:cNvSpPr/>
          <p:nvPr/>
        </p:nvSpPr>
        <p:spPr>
          <a:xfrm>
            <a:off x="9089136" y="2103120"/>
            <a:ext cx="685800" cy="685800"/>
          </a:xfrm>
          <a:prstGeom prst="ellipse">
            <a:avLst/>
          </a:prstGeom>
          <a:solidFill>
            <a:srgbClr val="14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3063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D1F1C"/>
                </a:solidFill>
                <a:latin typeface="Cambria"/>
              </a:rPr>
              <a:t>Панель учителя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023360"/>
            <a:ext cx="2560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DC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88152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F6F5C"/>
                </a:solidFill>
                <a:latin typeface="Calibri"/>
              </a:rPr>
              <a:t>Работает в браузере на любом телефоне, без установки, регистрации и сервера.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АЛГОРИТМ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Как Tamyr ищет корень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1417319" y="2468880"/>
            <a:ext cx="1737361" cy="594360"/>
          </a:xfrm>
          <a:prstGeom prst="line">
            <a:avLst/>
          </a:prstGeom>
          <a:ln w="19050">
            <a:solidFill>
              <a:srgbClr val="C8C8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154680" y="2468880"/>
            <a:ext cx="0" cy="594360"/>
          </a:xfrm>
          <a:prstGeom prst="line">
            <a:avLst/>
          </a:prstGeom>
          <a:ln w="31750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154680" y="2468880"/>
            <a:ext cx="1737360" cy="594360"/>
          </a:xfrm>
          <a:prstGeom prst="line">
            <a:avLst/>
          </a:prstGeom>
          <a:ln w="19050">
            <a:solidFill>
              <a:srgbClr val="C8C8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286000" y="3611880"/>
            <a:ext cx="868680" cy="594360"/>
          </a:xfrm>
          <a:prstGeom prst="line">
            <a:avLst/>
          </a:prstGeom>
          <a:ln w="19050">
            <a:solidFill>
              <a:srgbClr val="C8C8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154680" y="3611880"/>
            <a:ext cx="868679" cy="594360"/>
          </a:xfrm>
          <a:prstGeom prst="line">
            <a:avLst/>
          </a:prstGeom>
          <a:ln w="31750">
            <a:solidFill>
              <a:srgbClr val="D9534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023359" y="4754879"/>
            <a:ext cx="0" cy="594361"/>
          </a:xfrm>
          <a:prstGeom prst="line">
            <a:avLst/>
          </a:prstGeom>
          <a:ln w="19050">
            <a:solidFill>
              <a:srgbClr val="C8C8C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77440" y="1920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F8D7D5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1D1F1C"/>
                </a:solidFill>
                <a:latin typeface="Calibri"/>
              </a:rPr>
              <a:t>Кв. уравнения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Разложение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063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F8D7D5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1D1F1C"/>
                </a:solidFill>
                <a:latin typeface="Calibri"/>
              </a:rPr>
              <a:t>Лин. уравнения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063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Корни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4206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Выражения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4206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D9534F"/>
          </a:solidFill>
          <a:ln w="2540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Дроби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5349240"/>
            <a:ext cx="155448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Арифметика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807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B5F58"/>
                </a:solidFill>
                <a:latin typeface="Calibri"/>
              </a:rPr>
              <a:t>Зелёный — освоено, красный — пробел, насыщенный красный — корень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1993392"/>
            <a:ext cx="292608" cy="292608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20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libri"/>
              </a:rPr>
              <a:t>Решил тему без ошибок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2677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→ всё, на чём она держится, засчитано без вопросов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2862072"/>
            <a:ext cx="292608" cy="292608"/>
          </a:xfrm>
          <a:prstGeom prst="ellipse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27889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libri"/>
              </a:rPr>
              <a:t>Ошибся дважды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136391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→ спускаемся к непроверенным пререквизитам</a:t>
            </a:r>
          </a:p>
        </p:txBody>
      </p:sp>
      <p:sp>
        <p:nvSpPr>
          <p:cNvPr id="24" name="Oval 23"/>
          <p:cNvSpPr/>
          <p:nvPr/>
        </p:nvSpPr>
        <p:spPr>
          <a:xfrm>
            <a:off x="6309360" y="3730752"/>
            <a:ext cx="292608" cy="292608"/>
          </a:xfrm>
          <a:prstGeom prst="ellipse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libri"/>
              </a:rPr>
              <a:t>Неверный вариант с меткой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0050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→ сначала проверяем «домашнюю» тему этой ошибки</a:t>
            </a:r>
          </a:p>
        </p:txBody>
      </p:sp>
      <p:sp>
        <p:nvSpPr>
          <p:cNvPr id="27" name="Oval 26"/>
          <p:cNvSpPr/>
          <p:nvPr/>
        </p:nvSpPr>
        <p:spPr>
          <a:xfrm>
            <a:off x="6309360" y="4599431"/>
            <a:ext cx="292608" cy="292608"/>
          </a:xfrm>
          <a:prstGeom prst="ellipse">
            <a:avLst/>
          </a:prstGeom>
          <a:solidFill>
            <a:srgbClr val="14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52627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libri"/>
              </a:rPr>
              <a:t>Корень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873751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B5F58"/>
                </a:solidFill>
                <a:latin typeface="Calibri"/>
              </a:rPr>
              <a:t>= пробел, под которым пробелов нет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5440680"/>
            <a:ext cx="5212080" cy="960120"/>
          </a:xfrm>
          <a:prstGeom prst="roundRect">
            <a:avLst>
              <a:gd name="adj" fmla="val 12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551383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9534F"/>
                </a:solidFill>
                <a:latin typeface="Calibri"/>
              </a:rPr>
              <a:t>1/2 + 1/3 = 2/5</a:t>
            </a:r>
            <a:r>
              <a:rPr sz="1400" b="0" i="0">
                <a:solidFill>
                  <a:srgbClr val="5B5F58"/>
                </a:solidFill>
                <a:latin typeface="Calibri"/>
              </a:rPr>
              <a:t>   значит</a:t>
            </a:r>
          </a:p>
          <a:p>
            <a:pPr algn="l"/>
            <a:r>
              <a:rPr sz="1400" b="0" i="0">
                <a:solidFill>
                  <a:srgbClr val="1D1F1C"/>
                </a:solidFill>
                <a:latin typeface="Calibri"/>
              </a:rPr>
              <a:t>«складывает числители с числителями, знаменатели со знаменателями» → тема «Дроби»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Демо: карта знаний ученика</a:t>
            </a:r>
          </a:p>
        </p:txBody>
      </p:sp>
      <p:pic>
        <p:nvPicPr>
          <p:cNvPr id="4" name="Picture 3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1783080"/>
            <a:ext cx="6949440" cy="3860800"/>
          </a:xfrm>
          <a:prstGeom prst="rect">
            <a:avLst/>
          </a:prstGeom>
          <a:ln w="12700">
            <a:solidFill>
              <a:srgbClr val="DDDDD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01000" y="1828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14 вопросов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2212848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на тему «Квадратные уравнения» и все её основы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907791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Корень — «Дроби»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291839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хотя ошибки видны в квадратных и линейных уравнениях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3986783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Ошибки мышления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4370831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по выбранным вариантам с правилом исправления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50657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План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5449824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«Разобрать» → урок → 2 задачи → следующая тема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ПАНЕЛЬ УЧИТЕЛЯ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Учитель видит корни всего класса</a:t>
            </a:r>
          </a:p>
        </p:txBody>
      </p:sp>
      <p:pic>
        <p:nvPicPr>
          <p:cNvPr id="4" name="Picture 3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572000" y="1783080"/>
            <a:ext cx="6949440" cy="4246880"/>
          </a:xfrm>
          <a:prstGeom prst="rect">
            <a:avLst/>
          </a:prstGeom>
          <a:ln w="12700">
            <a:solidFill>
              <a:srgbClr val="DDDDD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Корневые пробелы класса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какие базовые темы тянут класс вниз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07791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Мини-группы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3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кого с кем посадить на 15-минутный разбор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86783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Тепловая карта и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70831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ученик × тема, выгрузка в журнал или Excel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657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F6F5C"/>
                </a:solidFill>
                <a:latin typeface="Calibri"/>
              </a:rPr>
              <a:t>Без сервера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9824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B5F58"/>
                </a:solidFill>
                <a:latin typeface="Calibri"/>
              </a:rPr>
              <a:t>ученик передаёт результат кодом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B5F58"/>
                </a:solidFill>
                <a:latin typeface="Calibri"/>
              </a:rPr>
              <a:t>Демо-класс на скриншоте — 24 виртуальных ученика, прогнанных через тот же движок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ПОХОЖИЕ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Идея не новая — новое в связке и в 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5F58"/>
                </a:solidFill>
                <a:latin typeface="Calibri"/>
              </a:rPr>
              <a:t>ЧТО ДЕЛАЕТ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0" y="178308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F6F5C"/>
                </a:solidFill>
                <a:latin typeface="Calibri"/>
              </a:rPr>
              <a:t>ЧЕМ ОТЛИЧАЕТСЯ TAMYR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881360" cy="786384"/>
          </a:xfrm>
          <a:prstGeom prst="roundRect">
            <a:avLst>
              <a:gd name="adj" fmla="val 10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mbria"/>
              </a:rPr>
              <a:t>ALEKS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F58"/>
                </a:solidFill>
                <a:latin typeface="Calibri"/>
              </a:rPr>
              <a:t>McGraw Hill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240280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1F1C"/>
                </a:solidFill>
                <a:latin typeface="Calibri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240280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6F5C"/>
                </a:solidFill>
                <a:latin typeface="Calibri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44952"/>
            <a:ext cx="10881360" cy="786384"/>
          </a:xfrm>
          <a:prstGeom prst="roundRect">
            <a:avLst>
              <a:gd name="adj" fmla="val 10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63824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mbria"/>
              </a:rPr>
              <a:t>Eedi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0215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F58"/>
                </a:solidFill>
                <a:latin typeface="Calibri"/>
              </a:rPr>
              <a:t>Великобритания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36392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1F1C"/>
                </a:solidFill>
                <a:latin typeface="Calibri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136392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6F5C"/>
                </a:solidFill>
                <a:latin typeface="Calibri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41064"/>
            <a:ext cx="10881360" cy="786384"/>
          </a:xfrm>
          <a:prstGeom prst="roundRect">
            <a:avLst>
              <a:gd name="adj" fmla="val 10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59936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mbria"/>
              </a:rPr>
              <a:t>Khan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3982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F58"/>
                </a:solidFill>
                <a:latin typeface="Calibri"/>
              </a:rPr>
              <a:t>США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03250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1F1C"/>
                </a:solidFill>
                <a:latin typeface="Calibri"/>
              </a:rPr>
              <a:t>Бесплатные курсы и система освоения по темам.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03250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6F5C"/>
                </a:solidFill>
                <a:latin typeface="Calibri"/>
              </a:rPr>
              <a:t>Не курс, а 10–20 минут диагностики: с чего начать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37176"/>
            <a:ext cx="10881360" cy="786384"/>
          </a:xfrm>
          <a:prstGeom prst="roundRect">
            <a:avLst>
              <a:gd name="adj" fmla="val 10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5604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D1F1C"/>
                </a:solidFill>
                <a:latin typeface="Cambria"/>
              </a:rPr>
              <a:t>Пробники 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9437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F58"/>
                </a:solidFill>
                <a:latin typeface="Calibri"/>
              </a:rPr>
              <a:t>Казахстан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92861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D1F1C"/>
                </a:solidFill>
                <a:latin typeface="Calibri"/>
              </a:rPr>
              <a:t>Балл и разбор по темам, где произошла ошибка.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92861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1F6F5C"/>
                </a:solidFill>
                <a:latin typeface="Calibri"/>
              </a:rPr>
              <a:t>Причина, а не балл; учителю — корни класса и группы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D1F1C"/>
                </a:solidFill>
                <a:latin typeface="Calibri"/>
              </a:rPr>
              <a:t>Наше отличие: </a:t>
            </a:r>
            <a:r>
              <a:rPr sz="1500" b="0" i="0">
                <a:solidFill>
                  <a:srgbClr val="5B5F58"/>
                </a:solidFill>
                <a:latin typeface="Calibri"/>
              </a:rPr>
              <a:t>неверный вариант → домашняя тема ошибки → проверка корня, под программу Казахстана, на любом телефоне, с панелью учителя.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9FD9C4"/>
                </a:solidFill>
                <a:latin typeface="Calibri"/>
              </a:rPr>
              <a:t>ВАЛИДАЦИЯ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Что уже проверено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9FD9C4"/>
                </a:solidFill>
                <a:latin typeface="Cambria"/>
              </a:rPr>
              <a:t>79%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D8E6E0"/>
                </a:solidFill>
                <a:latin typeface="Calibri"/>
              </a:rPr>
              <a:t>настоящих корней
найдено (полнота)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9FD9C4"/>
                </a:solidFill>
                <a:latin typeface="Cambria"/>
              </a:rPr>
              <a:t>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926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D8E6E0"/>
                </a:solidFill>
                <a:latin typeface="Calibri"/>
              </a:rPr>
              <a:t>найденных корней
верны (точность)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9FD9C4"/>
                </a:solidFill>
                <a:latin typeface="Cambria"/>
              </a:rPr>
              <a:t>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926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D8E6E0"/>
                </a:solidFill>
                <a:latin typeface="Calibri"/>
              </a:rPr>
              <a:t>вопросов: без пробелов /
с одним пробелом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96596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 i="0">
                <a:solidFill>
                  <a:srgbClr val="9FD9C4"/>
                </a:solidFill>
                <a:latin typeface="Cambria"/>
              </a:rPr>
              <a:t>16 /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926080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D8E6E0"/>
                </a:solidFill>
                <a:latin typeface="Calibri"/>
              </a:rPr>
              <a:t>юнит-тестов
проходят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77639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5CCC3"/>
                </a:solidFill>
                <a:latin typeface="Calibri"/>
              </a:rPr>
              <a:t>Контрольная симуляция: 1000 новых виртуальных учеников с известными пробелами, не использованных при доработке движка. Угадывание 20%, ошибки в знакомых темах 8%. Модель ученика наша, поэтому это оценка сверху; без шума алгоритм находит 100% корней.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46320"/>
            <a:ext cx="10881360" cy="1371600"/>
          </a:xfrm>
          <a:prstGeom prst="roundRect">
            <a:avLst>
              <a:gd name="adj" fmla="val 12000"/>
            </a:avLst>
          </a:prstGeom>
          <a:solidFill>
            <a:srgbClr val="1F3D35"/>
          </a:solidFill>
          <a:ln w="25400">
            <a:solidFill>
              <a:srgbClr val="9FD9C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983480"/>
            <a:ext cx="10332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Проверка на людях — заполните реальными данными: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8E6E0"/>
                </a:solidFill>
                <a:latin typeface="Calibri"/>
              </a:rPr>
              <a:t>опрос учеников (n = __), интервью с учителями (__ чел.), мини-пилот: совпадение корня с мнением учителя __ из __. Шаблоны: docs/validation-plan.md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6F5C"/>
                </a:solidFill>
                <a:latin typeface="Calibri"/>
              </a:rPr>
              <a:t>ВНЕДРЕНИЕ И 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D1F1C"/>
                </a:solidFill>
                <a:latin typeface="Cambria"/>
              </a:rPr>
              <a:t>Реализуемо уже сейчас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F6F5C"/>
                </a:solidFill>
                <a:latin typeface="Cambria"/>
              </a:rPr>
              <a:t>Технологии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971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HTML/CSS/JS без зависимостей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Работает офлайн на любом телефоне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Граф и банк заданий — данные: новый предмет = новый файл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Персональные данные остаются на устройстве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F6F5C"/>
                </a:solidFill>
                <a:latin typeface="Cambria"/>
              </a:rPr>
              <a:t>Кому и за сколько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743200"/>
            <a:ext cx="2971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Ученикам: бесплатная диагностика, платные банки (геометрия, мат. грамотность)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Школам: панель учителя, подписка за класс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Учебным центрам: входная диагностика новых учеников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92024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21488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F6F5C"/>
                </a:solidFill>
                <a:latin typeface="Cambria"/>
              </a:rPr>
              <a:t>Для запуска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743200"/>
            <a:ext cx="2971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Проверка графа 2–3 учителями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Банк 10+ вопросов на тему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Казахская версия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D1F1C"/>
                </a:solidFill>
                <a:latin typeface="Calibri"/>
              </a:rPr>
              <a:t>Пилот в 2–3 классах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B2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05840" y="548640"/>
            <a:ext cx="0" cy="288036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H="1">
            <a:off x="762609" y="836676"/>
            <a:ext cx="243231" cy="352043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836676"/>
            <a:ext cx="243230" cy="352043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836676"/>
            <a:ext cx="0" cy="352043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 flipV="1">
            <a:off x="813816" y="548640"/>
            <a:ext cx="192024" cy="128016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1005840" y="548640"/>
            <a:ext cx="192024" cy="128016"/>
          </a:xfrm>
          <a:prstGeom prst="line">
            <a:avLst/>
          </a:prstGeom>
          <a:ln w="44450">
            <a:solidFill>
              <a:srgbClr val="9FD9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41732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Дальше — от прототипа к классу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06040"/>
            <a:ext cx="365760" cy="365760"/>
          </a:xfrm>
          <a:prstGeom prst="ellipse">
            <a:avLst/>
          </a:prstGeom>
          <a:solidFill>
            <a:srgbClr val="9FD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97280" y="2788920"/>
            <a:ext cx="2286000" cy="0"/>
          </a:xfrm>
          <a:prstGeom prst="line">
            <a:avLst/>
          </a:prstGeom>
          <a:ln w="25400">
            <a:solidFill>
              <a:srgbClr val="3A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9FD9C4"/>
                </a:solidFill>
                <a:latin typeface="Calibri"/>
              </a:rPr>
              <a:t>Сейчас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8E6E0"/>
                </a:solidFill>
                <a:latin typeface="Calibri"/>
              </a:rPr>
              <a:t>MVP: 17 тем, 102 задания, 43 ошибки мышления, панель учителя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606040"/>
            <a:ext cx="365760" cy="365760"/>
          </a:xfrm>
          <a:prstGeom prst="ellipse">
            <a:avLst/>
          </a:prstGeom>
          <a:solidFill>
            <a:srgbClr val="3A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3931920" y="2788920"/>
            <a:ext cx="2286000" cy="0"/>
          </a:xfrm>
          <a:prstGeom prst="line">
            <a:avLst/>
          </a:prstGeom>
          <a:ln w="25400">
            <a:solidFill>
              <a:srgbClr val="3A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7472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9FD9C4"/>
                </a:solidFill>
                <a:latin typeface="Calibri"/>
              </a:rPr>
              <a:t>1 месяц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56616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8E6E0"/>
                </a:solidFill>
                <a:latin typeface="Calibri"/>
              </a:rPr>
              <a:t>Пилот в 2–3 классах, казахский язык</a:t>
            </a:r>
          </a:p>
        </p:txBody>
      </p:sp>
      <p:sp>
        <p:nvSpPr>
          <p:cNvPr id="17" name="Oval 16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3A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6766560" y="2788920"/>
            <a:ext cx="2286000" cy="0"/>
          </a:xfrm>
          <a:prstGeom prst="line">
            <a:avLst/>
          </a:prstGeom>
          <a:ln w="25400">
            <a:solidFill>
              <a:srgbClr val="3A6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936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9FD9C4"/>
                </a:solidFill>
                <a:latin typeface="Calibri"/>
              </a:rPr>
              <a:t>3 месяца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8E6E0"/>
                </a:solidFill>
                <a:latin typeface="Calibri"/>
              </a:rPr>
              <a:t>Байесовская модель освоения, 10+ вопросов на тему</a:t>
            </a:r>
          </a:p>
        </p:txBody>
      </p:sp>
      <p:sp>
        <p:nvSpPr>
          <p:cNvPr id="21" name="Oval 20"/>
          <p:cNvSpPr/>
          <p:nvPr/>
        </p:nvSpPr>
        <p:spPr>
          <a:xfrm>
            <a:off x="9144000" y="2606040"/>
            <a:ext cx="365760" cy="365760"/>
          </a:xfrm>
          <a:prstGeom prst="ellipse">
            <a:avLst/>
          </a:prstGeom>
          <a:solidFill>
            <a:srgbClr val="3A6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9FD9C4"/>
                </a:solidFill>
                <a:latin typeface="Calibri"/>
              </a:rPr>
              <a:t>6 месяцев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56616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D8E6E0"/>
                </a:solidFill>
                <a:latin typeface="Calibri"/>
              </a:rPr>
              <a:t>Геометрия и мат. грамотность ЕНТ, вход по коду класса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292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Команда: [Имя — роль] · [Имя — роль] · [Имя — роль]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3212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B5CCC3"/>
                </a:solidFill>
                <a:latin typeface="Calibri"/>
              </a:rPr>
              <a:t>GitHub: [ссылка на репозиторий]   ·   Демо: [ссылка на GitHub Pages]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